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5"/>
    <p:sldId id="497" r:id="rId6"/>
    <p:sldId id="499" r:id="rId7"/>
    <p:sldId id="500" r:id="rId8"/>
    <p:sldId id="501" r:id="rId9"/>
    <p:sldId id="512" r:id="rId10"/>
    <p:sldId id="513" r:id="rId11"/>
    <p:sldId id="505" r:id="rId12"/>
    <p:sldId id="503" r:id="rId13"/>
    <p:sldId id="508" r:id="rId14"/>
    <p:sldId id="514" r:id="rId15"/>
    <p:sldId id="507" r:id="rId16"/>
    <p:sldId id="502" r:id="rId17"/>
    <p:sldId id="504" r:id="rId18"/>
    <p:sldId id="506" r:id="rId19"/>
    <p:sldId id="269" r:id="rId20"/>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93" autoAdjust="0"/>
    <p:restoredTop sz="94681"/>
  </p:normalViewPr>
  <p:slideViewPr>
    <p:cSldViewPr>
      <p:cViewPr varScale="1">
        <p:scale>
          <a:sx n="81" d="100"/>
          <a:sy n="81" d="100"/>
        </p:scale>
        <p:origin x="917" y="53"/>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0T15:49:54.477"/>
    </inkml:context>
    <inkml:brush xml:id="br0">
      <inkml:brushProperty name="width" value="0.35" units="cm"/>
      <inkml:brushProperty name="height" value="0.35" units="cm"/>
      <inkml:brushProperty name="color" value="#FFFFFF"/>
    </inkml:brush>
  </inkml:definitions>
  <inkml:trace contextRef="#ctx0" brushRef="#br0">299 638 24575,'1'-13'0,"2"1"0,-1-1 0,2 1 0,0-1 0,0 1 0,1 0 0,0 0 0,1 1 0,12-18 0,-7 10 0,15-34 0,-25 51 0,-1 0 0,1 0 0,-1 1 0,1-1 0,-1 0 0,1 0 0,-1 0 0,0 0 0,0 0 0,0 0 0,-1-3 0,1 4 0,0 1 0,0-1 0,0 1 0,-1-1 0,1 1 0,0-1 0,-1 0 0,1 1 0,0-1 0,-1 1 0,1 0 0,-1-1 0,1 1 0,0-1 0,-1 1 0,0 0 0,1-1 0,-1 1 0,1 0 0,-1-1 0,1 1 0,-1 0 0,-1-1 0,0 1 0,-1 0 0,0 0 0,1 0 0,-1 1 0,0-1 0,1 1 0,-1-1 0,0 1 0,1 0 0,-1 0 0,1 0 0,-1 0 0,1 0 0,-4 3 0,-22 16 0,-46 41 0,-9 7 0,-17 16 0,87-77 0,6-10 0,7 1 0,-1 1 0,1 0 0,0 0 0,0 0 0,0-1 0,0 1 0,0 0 0,1 0 0,-1 0 0,0 0 0,0-1 0,1 1 0,-1 0 0,1 0 0,-1 0 0,1 0 0,-1 0 0,1 0 0,1-1 0,17-28 0,0 0 0,-2-1 0,-2-1 0,14-39 0,-27 67 0,-1-1 0,0 1 0,0-1 0,0 1 0,0-1 0,-1 0 0,0 1 0,0-9 0,0 11 0,-1 0 0,1 0 0,-1 1 0,0-1 0,0 0 0,1 1 0,-1-1 0,0 0 0,0 1 0,-1-1 0,1 1 0,0 0 0,0-1 0,-1 1 0,1 0 0,-1 0 0,1 0 0,-1 0 0,1 0 0,-1 0 0,0 0 0,1 0 0,-1 1 0,-2-2 0,1 2 0,0-1 0,1-1 0,-1 1 0,1 0 0,-1-1 0,1 1 0,0-1 0,0 0 0,0 0 0,0 0 0,0 0 0,0 0 0,0 0 0,1 0 0,-1-1 0,1 1 0,-3-5 0,2 3 0,0 0 0,0 0 0,-1 1 0,1 0 0,-1-1 0,-5-4 0,-15-3 0,21 11 0,1 0 0,0-1 0,0 1 0,0 0 0,-1-1 0,1 1 0,0-1 0,0 1 0,0-1 0,0 1 0,0-1 0,0 0 0,0 1 0,0-1 0,0 0 0,0 0 0,0 0 0,1 0 0,-1 0 0,0 0 0,0 0 0,1 0 0,-1 0 0,1 0 0,-1 0 0,1 0 0,0-1 0,-1 1 0,1 0 0,0 0 0,0 0 0,0-3 0,-1 0 0,0 1 0,1-1 0,0 0 0,0 0 0,0 0 0,1 1 0,-1-1 0,1 0 0,0 0 0,0 1 0,0-1 0,0 1 0,1-1 0,-1 1 0,1-1 0,0 1 0,0 0 0,0 0 0,1 0 0,-1 0 0,1 0 0,0 0 0,-1 1 0,1-1 0,0 1 0,0 0 0,1 0 0,-1 0 0,0 0 0,1 1 0,-1-1 0,1 1 0,0 0 0,-1 0 0,1 0 0,0 1 0,0-1 0,-1 1 0,1 0 0,0 0 0,0 0 0,0 0 0,-1 1 0,8 1 0,4 4 0,0 0 0,0 1 0,-1 0 0,25 17 0,13 7 0,-36-22 0,0-2 0,0 0 0,1-1 0,0-1 0,0-1 0,27 4 0,-39-7 0,0 0 0,0-1 0,0 0 0,-1 0 0,1 0 0,0-1 0,0 0 0,0 0 0,-1 0 0,1 0 0,0-1 0,-1 1 0,1-1 0,-1 0 0,0-1 0,1 1 0,-1-1 0,0 0 0,-1 0 0,1 0 0,0 0 0,-1-1 0,0 0 0,0 1 0,0-1 0,0 0 0,-1-1 0,4-5 0,2-15 0,-5 15 0,1 0 0,-1 0 0,2 0 0,7-13 0,-11 22 0,-1 0 0,1-1 0,0 1 0,0 0 0,0 0 0,-1 0 0,1 0 0,1 0 0,-1 0 0,0 0 0,0 1 0,0-1 0,0 0 0,0 1 0,1-1 0,-1 0 0,0 1 0,1 0 0,-1-1 0,0 1 0,1 0 0,-1-1 0,0 1 0,1 0 0,-1 0 0,1 0 0,-1 0 0,0 1 0,1-1 0,-1 0 0,1 1 0,-1-1 0,0 0 0,0 1 0,1 0 0,-1-1 0,0 1 0,0 0 0,2 1 0,2 3 0,-1-1 0,-1 1 0,1 0 0,-1 1 0,0-1 0,0 0 0,0 1 0,-1 0 0,1-1 0,-2 1 0,1 0 0,1 7 0,10 26 0,-9-31 0,1 0 0,0 0 0,0-1 0,1 0 0,0 0 0,1 0 0,-1 0 0,1-1 0,1-1 0,-1 1 0,1-1 0,12 7 0,-7-6 0,-1 0 0,1-1 0,0 0 0,0-1 0,0-1 0,1 0 0,24 2 0,-34-5 0,0 0 0,0 0 0,0-1 0,0 0 0,0 0 0,-1 0 0,1 0 0,0 0 0,0-1 0,-1 0 0,1 0 0,-1 0 0,5-3 0,43-41 0,-9 8 0,9 4 0,2 3 0,1 2 0,66-25 0,-98 46 0,1 2 0,0 1 0,0 0 0,0 2 0,43-1 0,26-3 0,-55 3 0,37 2 0,11-1 0,-73 0 0,-15-2 0,-21-2 0,-2 3 0,0 2 0,-1 1 0,1 1 0,0 1 0,0 1 0,0 2 0,0 0 0,1 2 0,-1 0 0,1 2 0,-41 19 0,61-24 0,-1 0 0,1-1 0,-1 1 0,0-1 0,0 0 0,0-1 0,-1 0 0,1 0 0,0 0 0,0-1 0,0 1 0,-1-2 0,1 1 0,0-1 0,0 0 0,-1 0 0,1 0 0,0-1 0,0 0 0,0 0 0,1-1 0,-1 1 0,1-1 0,-1-1 0,1 1 0,0-1 0,-7-6 0,5 4 0,0 0 0,-1 0 0,0 0 0,0 1 0,0 0 0,-1 1 0,0 0 0,1 0 0,-2 1 0,1 0 0,0 0 0,-1 1 0,1 0 0,-1 1 0,1 0 0,-16 1 0,2 1 0,1 0 0,0 2 0,0 0 0,0 1 0,-35 13 0,32-9 0,17-6 0,-1 0 0,0 1 0,1 0 0,0 1 0,0-1 0,0 2 0,0-1 0,0 1 0,1 0 0,0 1 0,0 0 0,-9 10 0,-2 9 0,1 1 0,1 0 0,1 2 0,-21 53 0,-129 245 0,132-268 0,-71 116 0,88-149 0,15-23 0,-1-1 0,1 1 0,0 0 0,0 0 0,0 0 0,0 0 0,1 0 0,-1 1 0,0-1 0,1 0 0,-1 0 0,1 0 0,0 1 0,0-1 0,0 0 0,0 3 0,1-4 0,-1-1 0,0 1 0,0 0 0,1-1 0,-1 1 0,0-1 0,1 1 0,-1-1 0,0 0 0,1 1 0,-1-1 0,1 1 0,-1-1 0,1 0 0,-1 1 0,1-1 0,-1 0 0,1 1 0,0-1 0,-1 0 0,2 1 0,21-3 0,-11-2 0,0-1 0,0 0 0,-1-1 0,0 0 0,0 0 0,0-1 0,18-17 0,61-66 0,-65 58 0,-2 0 0,-1-2 0,23-46 0,10-16 0,-16 26 0,-26 45 0,1 1 0,27-37 0,-39 58 0,1 0 0,-1 1 0,0-1 0,1 1 0,-1 0 0,1-1 0,0 1 0,0 1 0,0-1 0,0 0 0,0 1 0,0-1 0,0 1 0,1 0 0,-1 0 0,0 1 0,1-1 0,-1 0 0,0 1 0,1 0 0,-1 0 0,1 0 0,-1 0 0,0 1 0,1-1 0,-1 1 0,1 0 0,-1 0 0,0 0 0,0 0 0,0 1 0,0-1 0,0 1 0,0 0 0,0 0 0,0 0 0,0 0 0,-1 0 0,1 1 0,-1-1 0,0 1 0,0 0 0,0-1 0,0 1 0,0 0 0,-1 0 0,1 0 0,-1 1 0,0-1 0,1 0 0,0 7 0,1 35 0,-1 1 0,-8 77 0,5-120 0,0 10 0,-1 1 0,-1-1 0,0 0 0,-1 0 0,0-1 0,-1 1 0,0-1 0,-1 0 0,0 0 0,-1-1 0,-12 15 0,13-17 0,1-1 0,0 0 0,1 1 0,0 0 0,0 0 0,1 1 0,0-1 0,1 1 0,0-1 0,-2 18 0,4-27 0,0 0 0,0 0 0,0 0 0,0 1 0,0-1 0,0 0 0,0 0 0,0 0 0,0 0 0,0 0 0,0 0 0,0 0 0,0 1 0,0-1 0,0 0 0,0 0 0,0 0 0,0 0 0,0 0 0,0 0 0,0 0 0,0 0 0,0 1 0,0-1 0,0 0 0,0 0 0,0 0 0,0 0 0,0 0 0,0 0 0,0 0 0,1 0 0,-1 0 0,0 1 0,0-1 0,0 0 0,0 0 0,0 0 0,0 0 0,0 0 0,0 0 0,0 0 0,1 0 0,-1 0 0,0 0 0,0 0 0,0 0 0,0 0 0,0 0 0,0 0 0,0 0 0,1 0 0,-1 0 0,0 0 0,0 0 0,0 0 0,0 0 0,0 0 0,0 0 0,0 0 0,0 0 0,1 0 0,-1 0 0,7-9 0,7-14 0,41-109 0,31-60 0,-60 137 0,10-19 0,-31 66 0,-1 1 0,1 0 0,0 0 0,1 0 0,0 1 0,12-11 0,-18 16 0,1 0 0,0 0 0,0 1 0,-1-1 0,1 1 0,0-1 0,0 1 0,0-1 0,0 1 0,0-1 0,0 1 0,0 0 0,0 0 0,0-1 0,0 1 0,0 0 0,0 0 0,0 0 0,0 0 0,0 0 0,0 0 0,0 0 0,0 1 0,0-1 0,0 0 0,0 1 0,0-1 0,0 0 0,0 1 0,1 0 0,0 1 0,0 0 0,0 0 0,0 1 0,-1-1 0,1 0 0,-1 1 0,1-1 0,-1 1 0,0-1 0,0 1 0,1 3 0,2 9 0,0 0 0,2 31 0,-3 36 0,-15 161 0,1-81 0,14-131 0,1-27 0,1-19 0,4-49 0,-6 43 0,0-1 0,1 0 0,1 1 0,0 0 0,2 0 0,1 1 0,11-23 0,-3 18 0,1 0 0,39-44 0,-46 56 0,-6 9 0,-1-1 0,1 1 0,0-1 0,0 1 0,0 0 0,6-4 0,-9 8 0,0-1 0,0 1 0,0 0 0,0-1 0,0 1 0,0 0 0,0 0 0,0-1 0,0 1 0,0 0 0,0 0 0,0 0 0,0 0 0,0 1 0,0-1 0,0 0 0,0 0 0,0 1 0,0-1 0,0 0 0,0 1 0,0-1 0,0 1 0,0-1 0,0 1 0,-1-1 0,1 1 0,0 0 0,0 0 0,-1-1 0,1 1 0,0 0 0,-1 0 0,1 0 0,-1 0 0,1-1 0,-1 1 0,1 0 0,-1 0 0,0 0 0,1 2 0,6 19 0,0-1 0,-2 2 0,0-1 0,-1 0 0,0 43 0,-3 54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0T15:54:58.644"/>
    </inkml:context>
    <inkml:brush xml:id="br0">
      <inkml:brushProperty name="width" value="0.35" units="cm"/>
      <inkml:brushProperty name="height" value="0.35" units="cm"/>
      <inkml:brushProperty name="color" value="#FFFFFF"/>
    </inkml:brush>
  </inkml:definitions>
  <inkml:trace contextRef="#ctx0" brushRef="#br0">1 0 24575,'50'2'0,"58"11"0,47 1 0,-132-12 0,0 0 0,31 8 0,-30-5 0,48 4 0,-32-6 0,41 8 0,-43-5 0,57 2 0,-85-7 0,1-1 0,-1-1 0,1 0 0,-1 0 0,1-1 0,-1 0 0,0-1 0,0 0 0,0-1 0,17-8 0,-13 5 0,-1 2 0,1 0 0,1 0 0,-1 1 0,1 1 0,-1 1 0,1 0 0,0 1 0,0 0 0,26 3 0,-13 1 0,0 1 0,-1 1 0,1 2 0,45 17 0,-40-14 291,-25-8-622,0 1 0,0-1-1,0 2 1,10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04-04-2026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BE92-2836-2377-AC03-A2DE9BD92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C9794-528F-622F-43DD-4480761AC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C919C-92B7-D9DB-548B-F07A4AA3A29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3746616-91E6-EEB7-1856-D004D3BB5C8A}"/>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996527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EE8AE-6B96-A0B7-5B01-1E66F7091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B1102-F4C9-B3F6-1EBC-67E21A0E1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09EEB-322A-5BF0-4BAB-89D92C041C1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60D25FF-334B-A586-E002-BDB8BEB75D2B}"/>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4163471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4271546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661C-EE8E-4550-79FC-6D2DE6283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3BE65-ABC2-C31E-F7BF-5074E255A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E0FA71-42DC-F866-0B0B-A1E7E3AEB70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A24EB81-AFC1-22F2-9431-A4C105BD9B2A}"/>
              </a:ext>
            </a:extLst>
          </p:cNvPr>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793938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6B61-674B-0ABF-F5C3-A72BF2845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BED0-DE41-A040-921A-D95B51852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3F754-664A-ECDE-8199-65800D97632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F3E54-5ADF-52CC-11B5-B7F7837DEE42}"/>
              </a:ext>
            </a:extLst>
          </p:cNvPr>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3277129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14</a:t>
            </a:fld>
            <a:endParaRPr lang="en-IN"/>
          </a:p>
        </p:txBody>
      </p:sp>
    </p:spTree>
    <p:extLst>
      <p:ext uri="{BB962C8B-B14F-4D97-AF65-F5344CB8AC3E}">
        <p14:creationId xmlns:p14="http://schemas.microsoft.com/office/powerpoint/2010/main" val="3636050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15</a:t>
            </a:fld>
            <a:endParaRPr lang="en-IN"/>
          </a:p>
        </p:txBody>
      </p:sp>
    </p:spTree>
    <p:extLst>
      <p:ext uri="{BB962C8B-B14F-4D97-AF65-F5344CB8AC3E}">
        <p14:creationId xmlns:p14="http://schemas.microsoft.com/office/powerpoint/2010/main" val="418369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04-04-2026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04-04-2026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04-04-2026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04-04-2026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6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customXml" Target="../ink/ink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1842" y="-27384"/>
            <a:ext cx="9180512" cy="6885384"/>
          </a:xfrm>
        </p:spPr>
      </p:pic>
      <p:cxnSp>
        <p:nvCxnSpPr>
          <p:cNvPr id="11" name="Straight Connector 10"/>
          <p:cNvCxnSpPr/>
          <p:nvPr/>
        </p:nvCxnSpPr>
        <p:spPr>
          <a:xfrm>
            <a:off x="1565174" y="2204864"/>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22061" y="2367609"/>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Pre-Final Year Project Progress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sp>
        <p:nvSpPr>
          <p:cNvPr id="5" name="TextBox 4">
            <a:extLst>
              <a:ext uri="{FF2B5EF4-FFF2-40B4-BE49-F238E27FC236}">
                <a16:creationId xmlns:a16="http://schemas.microsoft.com/office/drawing/2014/main" id="{3DF18845-4075-32C5-8F4A-4F40F86E837F}"/>
              </a:ext>
            </a:extLst>
          </p:cNvPr>
          <p:cNvSpPr txBox="1"/>
          <p:nvPr/>
        </p:nvSpPr>
        <p:spPr>
          <a:xfrm>
            <a:off x="-21842" y="1598067"/>
            <a:ext cx="9180512" cy="461665"/>
          </a:xfrm>
          <a:prstGeom prst="rect">
            <a:avLst/>
          </a:prstGeom>
          <a:noFill/>
        </p:spPr>
        <p:txBody>
          <a:bodyPr wrap="square">
            <a:spAutoFit/>
          </a:bodyPr>
          <a:lstStyle/>
          <a:p>
            <a:pPr lvl="0" algn="ctr">
              <a:buSzPct val="25000"/>
            </a:pPr>
            <a:r>
              <a:rPr lang="en-US" sz="2400" b="1" dirty="0">
                <a:solidFill>
                  <a:srgbClr val="C00000"/>
                </a:solidFill>
                <a:latin typeface="Times New Roman" panose="02020603050405020304" pitchFamily="18" charset="0"/>
                <a:ea typeface="Verdana" panose="020B0604030504040204" pitchFamily="34" charset="0"/>
                <a:cs typeface="Verdana" panose="020B0604030504040204" pitchFamily="34" charset="0"/>
              </a:rPr>
              <a:t>Unified University Management &amp; Student Support Platform</a:t>
            </a:r>
            <a:endParaRPr lang="en-IN" sz="2400" b="1" dirty="0">
              <a:solidFill>
                <a:srgbClr val="C00000"/>
              </a:solidFill>
              <a:ea typeface="Cambria" panose="02040503050406030204" pitchFamily="18" charset="0"/>
              <a:cs typeface="Times New Roman" panose="02020603050405020304" pitchFamily="18" charset="0"/>
              <a:sym typeface="Arial"/>
            </a:endParaRP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646331"/>
          </a:xfrm>
          <a:prstGeom prst="rect">
            <a:avLst/>
          </a:prstGeom>
          <a:noFill/>
        </p:spPr>
        <p:txBody>
          <a:bodyPr wrap="square">
            <a:spAutoFit/>
          </a:bodyPr>
          <a:lstStyle/>
          <a:p>
            <a:pPr lvl="0">
              <a:buSzPct val="25000"/>
            </a:pPr>
            <a:r>
              <a:rPr lang="en-IN" sz="1800" b="1" dirty="0">
                <a:solidFill>
                  <a:srgbClr val="0070C0"/>
                </a:solidFill>
                <a:ea typeface="Cambria" panose="02040503050406030204" pitchFamily="18" charset="0"/>
                <a:cs typeface="Times New Roman" panose="02020603050405020304" pitchFamily="18" charset="0"/>
                <a:sym typeface="Arial"/>
              </a:rPr>
              <a:t> </a:t>
            </a:r>
            <a:br>
              <a:rPr lang="en-IN" sz="1800" b="1" dirty="0">
                <a:solidFill>
                  <a:srgbClr val="0070C0"/>
                </a:solidFill>
                <a:ea typeface="Cambria" panose="02040503050406030204" pitchFamily="18" charset="0"/>
                <a:cs typeface="Times New Roman" panose="02020603050405020304" pitchFamily="18" charset="0"/>
                <a:sym typeface="Arial"/>
              </a:rPr>
            </a:br>
            <a:r>
              <a:rPr lang="en-IN" b="1" dirty="0">
                <a:solidFill>
                  <a:srgbClr val="0070C0"/>
                </a:solidFill>
                <a:ea typeface="Cambria" panose="02040503050406030204" pitchFamily="18" charset="0"/>
                <a:cs typeface="Times New Roman" panose="02020603050405020304" pitchFamily="18" charset="0"/>
                <a:sym typeface="Arial"/>
              </a:rPr>
              <a:t>Faculty Mentor: Ms. </a:t>
            </a:r>
            <a:r>
              <a:rPr lang="en-IN" b="1" dirty="0" err="1">
                <a:solidFill>
                  <a:srgbClr val="0070C0"/>
                </a:solidFill>
                <a:ea typeface="Cambria" panose="02040503050406030204" pitchFamily="18" charset="0"/>
                <a:cs typeface="Times New Roman" panose="02020603050405020304" pitchFamily="18" charset="0"/>
                <a:sym typeface="Arial"/>
              </a:rPr>
              <a:t>Iflah</a:t>
            </a:r>
            <a:r>
              <a:rPr lang="en-IN" b="1" dirty="0">
                <a:solidFill>
                  <a:srgbClr val="0070C0"/>
                </a:solidFill>
                <a:ea typeface="Cambria" panose="02040503050406030204" pitchFamily="18" charset="0"/>
                <a:cs typeface="Times New Roman" panose="02020603050405020304" pitchFamily="18" charset="0"/>
                <a:sym typeface="Arial"/>
              </a:rPr>
              <a:t> Aijaz</a:t>
            </a:r>
            <a:endParaRPr lang="en-IN" sz="1800" b="1" dirty="0">
              <a:solidFill>
                <a:srgbClr val="0070C0"/>
              </a:solidFill>
              <a:ea typeface="Cambria" panose="02040503050406030204" pitchFamily="18" charset="0"/>
              <a:cs typeface="Times New Roman" panose="02020603050405020304" pitchFamily="18" charset="0"/>
              <a:sym typeface="Arial"/>
            </a:endParaRPr>
          </a:p>
        </p:txBody>
      </p:sp>
      <p:graphicFrame>
        <p:nvGraphicFramePr>
          <p:cNvPr id="3" name="Table 2">
            <a:extLst>
              <a:ext uri="{FF2B5EF4-FFF2-40B4-BE49-F238E27FC236}">
                <a16:creationId xmlns:a16="http://schemas.microsoft.com/office/drawing/2014/main" id="{B182C1ED-EBBE-090B-4B4D-8FDB2705B355}"/>
              </a:ext>
            </a:extLst>
          </p:cNvPr>
          <p:cNvGraphicFramePr>
            <a:graphicFrameLocks noGrp="1"/>
          </p:cNvGraphicFramePr>
          <p:nvPr>
            <p:extLst>
              <p:ext uri="{D42A27DB-BD31-4B8C-83A1-F6EECF244321}">
                <p14:modId xmlns:p14="http://schemas.microsoft.com/office/powerpoint/2010/main" val="3882336144"/>
              </p:ext>
            </p:extLst>
          </p:nvPr>
        </p:nvGraphicFramePr>
        <p:xfrm>
          <a:off x="1498711" y="3225849"/>
          <a:ext cx="6096000"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287197449"/>
                    </a:ext>
                  </a:extLst>
                </a:gridCol>
                <a:gridCol w="3048000">
                  <a:extLst>
                    <a:ext uri="{9D8B030D-6E8A-4147-A177-3AD203B41FA5}">
                      <a16:colId xmlns:a16="http://schemas.microsoft.com/office/drawing/2014/main" val="766293216"/>
                    </a:ext>
                  </a:extLst>
                </a:gridCol>
              </a:tblGrid>
              <a:tr h="370840">
                <a:tc>
                  <a:txBody>
                    <a:bodyPr/>
                    <a:lstStyle/>
                    <a:p>
                      <a:pPr algn="ctr"/>
                      <a:r>
                        <a:rPr lang="en-IN" dirty="0">
                          <a:latin typeface="Times New Roman" panose="02020603050405020304" pitchFamily="18" charset="0"/>
                          <a:cs typeface="Times New Roman" panose="02020603050405020304" pitchFamily="18" charset="0"/>
                        </a:rPr>
                        <a:t>Roll Number</a:t>
                      </a:r>
                    </a:p>
                  </a:txBody>
                  <a:tcPr/>
                </a:tc>
                <a:tc>
                  <a:txBody>
                    <a:bodyPr/>
                    <a:lstStyle/>
                    <a:p>
                      <a:pPr algn="ctr"/>
                      <a:r>
                        <a:rPr lang="en-IN" dirty="0">
                          <a:latin typeface="Times New Roman" panose="02020603050405020304" pitchFamily="18" charset="0"/>
                          <a:cs typeface="Times New Roman" panose="02020603050405020304" pitchFamily="18" charset="0"/>
                        </a:rPr>
                        <a:t>Name </a:t>
                      </a:r>
                    </a:p>
                  </a:txBody>
                  <a:tcPr/>
                </a:tc>
                <a:extLst>
                  <a:ext uri="{0D108BD9-81ED-4DB2-BD59-A6C34878D82A}">
                    <a16:rowId xmlns:a16="http://schemas.microsoft.com/office/drawing/2014/main" val="3266189266"/>
                  </a:ext>
                </a:extLst>
              </a:tr>
              <a:tr h="370840">
                <a:tc>
                  <a:txBody>
                    <a:bodyPr/>
                    <a:lstStyle/>
                    <a:p>
                      <a:pPr algn="ctr"/>
                      <a:r>
                        <a:rPr lang="en-IN" dirty="0">
                          <a:latin typeface="Times New Roman" panose="02020603050405020304" pitchFamily="18" charset="0"/>
                          <a:cs typeface="Times New Roman" panose="02020603050405020304" pitchFamily="18" charset="0"/>
                        </a:rPr>
                        <a:t>2301010289</a:t>
                      </a:r>
                    </a:p>
                  </a:txBody>
                  <a:tcPr/>
                </a:tc>
                <a:tc>
                  <a:txBody>
                    <a:bodyPr/>
                    <a:lstStyle/>
                    <a:p>
                      <a:pPr algn="ctr"/>
                      <a:r>
                        <a:rPr lang="en-IN" dirty="0">
                          <a:latin typeface="Times New Roman" panose="02020603050405020304" pitchFamily="18" charset="0"/>
                          <a:cs typeface="Times New Roman" panose="02020603050405020304" pitchFamily="18" charset="0"/>
                        </a:rPr>
                        <a:t>Vaibhav Vaid</a:t>
                      </a:r>
                    </a:p>
                  </a:txBody>
                  <a:tcPr/>
                </a:tc>
                <a:extLst>
                  <a:ext uri="{0D108BD9-81ED-4DB2-BD59-A6C34878D82A}">
                    <a16:rowId xmlns:a16="http://schemas.microsoft.com/office/drawing/2014/main" val="1754403507"/>
                  </a:ext>
                </a:extLst>
              </a:tr>
              <a:tr h="370840">
                <a:tc>
                  <a:txBody>
                    <a:bodyPr/>
                    <a:lstStyle/>
                    <a:p>
                      <a:pPr algn="ctr"/>
                      <a:r>
                        <a:rPr lang="en-IN" dirty="0">
                          <a:latin typeface="Times New Roman" panose="02020603050405020304" pitchFamily="18" charset="0"/>
                          <a:cs typeface="Times New Roman" panose="02020603050405020304" pitchFamily="18" charset="0"/>
                        </a:rPr>
                        <a:t>2301010282</a:t>
                      </a:r>
                    </a:p>
                  </a:txBody>
                  <a:tcPr/>
                </a:tc>
                <a:tc>
                  <a:txBody>
                    <a:bodyPr/>
                    <a:lstStyle/>
                    <a:p>
                      <a:pPr algn="ctr"/>
                      <a:r>
                        <a:rPr lang="en-IN" dirty="0">
                          <a:latin typeface="Times New Roman" panose="02020603050405020304" pitchFamily="18" charset="0"/>
                          <a:cs typeface="Times New Roman" panose="02020603050405020304" pitchFamily="18" charset="0"/>
                        </a:rPr>
                        <a:t>Adeela Azeez</a:t>
                      </a:r>
                    </a:p>
                  </a:txBody>
                  <a:tcPr/>
                </a:tc>
                <a:extLst>
                  <a:ext uri="{0D108BD9-81ED-4DB2-BD59-A6C34878D82A}">
                    <a16:rowId xmlns:a16="http://schemas.microsoft.com/office/drawing/2014/main" val="2707264299"/>
                  </a:ext>
                </a:extLst>
              </a:tr>
              <a:tr h="370840">
                <a:tc>
                  <a:txBody>
                    <a:bodyPr/>
                    <a:lstStyle/>
                    <a:p>
                      <a:pPr algn="ctr"/>
                      <a:r>
                        <a:rPr lang="en-IN" dirty="0">
                          <a:latin typeface="Times New Roman" panose="02020603050405020304" pitchFamily="18" charset="0"/>
                          <a:cs typeface="Times New Roman" panose="02020603050405020304" pitchFamily="18" charset="0"/>
                        </a:rPr>
                        <a:t>2301010300</a:t>
                      </a:r>
                    </a:p>
                  </a:txBody>
                  <a:tcPr/>
                </a:tc>
                <a:tc>
                  <a:txBody>
                    <a:bodyPr/>
                    <a:lstStyle/>
                    <a:p>
                      <a:pPr algn="ctr"/>
                      <a:r>
                        <a:rPr lang="en-IN" dirty="0">
                          <a:latin typeface="Times New Roman" panose="02020603050405020304" pitchFamily="18" charset="0"/>
                          <a:cs typeface="Times New Roman" panose="02020603050405020304" pitchFamily="18" charset="0"/>
                        </a:rPr>
                        <a:t>Himani Tyagi</a:t>
                      </a:r>
                    </a:p>
                  </a:txBody>
                  <a:tcPr/>
                </a:tc>
                <a:extLst>
                  <a:ext uri="{0D108BD9-81ED-4DB2-BD59-A6C34878D82A}">
                    <a16:rowId xmlns:a16="http://schemas.microsoft.com/office/drawing/2014/main" val="1764897572"/>
                  </a:ext>
                </a:extLst>
              </a:tr>
              <a:tr h="370840">
                <a:tc>
                  <a:txBody>
                    <a:bodyPr/>
                    <a:lstStyle/>
                    <a:p>
                      <a:pPr algn="ctr"/>
                      <a:r>
                        <a:rPr lang="en-IN" dirty="0">
                          <a:latin typeface="Times New Roman" panose="02020603050405020304" pitchFamily="18" charset="0"/>
                          <a:cs typeface="Times New Roman" panose="02020603050405020304" pitchFamily="18" charset="0"/>
                        </a:rPr>
                        <a:t>2301010293</a:t>
                      </a:r>
                    </a:p>
                  </a:txBody>
                  <a:tcPr/>
                </a:tc>
                <a:tc>
                  <a:txBody>
                    <a:bodyPr/>
                    <a:lstStyle/>
                    <a:p>
                      <a:pPr algn="ctr"/>
                      <a:r>
                        <a:rPr lang="en-IN" dirty="0">
                          <a:latin typeface="Times New Roman" panose="02020603050405020304" pitchFamily="18" charset="0"/>
                          <a:cs typeface="Times New Roman" panose="02020603050405020304" pitchFamily="18" charset="0"/>
                        </a:rPr>
                        <a:t>Ashutosh Singh</a:t>
                      </a:r>
                    </a:p>
                  </a:txBody>
                  <a:tcPr/>
                </a:tc>
                <a:extLst>
                  <a:ext uri="{0D108BD9-81ED-4DB2-BD59-A6C34878D82A}">
                    <a16:rowId xmlns:a16="http://schemas.microsoft.com/office/drawing/2014/main" val="4147241571"/>
                  </a:ext>
                </a:extLst>
              </a:tr>
              <a:tr h="370840">
                <a:tc>
                  <a:txBody>
                    <a:bodyPr/>
                    <a:lstStyle/>
                    <a:p>
                      <a:pPr algn="ctr"/>
                      <a:r>
                        <a:rPr lang="en-IN" dirty="0">
                          <a:latin typeface="Times New Roman" panose="02020603050405020304" pitchFamily="18" charset="0"/>
                          <a:cs typeface="Times New Roman" panose="02020603050405020304" pitchFamily="18" charset="0"/>
                        </a:rPr>
                        <a:t>2301010298</a:t>
                      </a:r>
                    </a:p>
                  </a:txBody>
                  <a:tcPr/>
                </a:tc>
                <a:tc>
                  <a:txBody>
                    <a:bodyPr/>
                    <a:lstStyle/>
                    <a:p>
                      <a:pPr algn="ctr"/>
                      <a:r>
                        <a:rPr lang="en-IN" dirty="0" err="1">
                          <a:latin typeface="Times New Roman" panose="02020603050405020304" pitchFamily="18" charset="0"/>
                          <a:cs typeface="Times New Roman" panose="02020603050405020304" pitchFamily="18" charset="0"/>
                        </a:rPr>
                        <a:t>Satdev</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3347955"/>
                  </a:ext>
                </a:extLst>
              </a:tr>
            </a:tbl>
          </a:graphicData>
        </a:graphic>
      </p:graphicFrame>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TextBox 2">
            <a:extLst>
              <a:ext uri="{FF2B5EF4-FFF2-40B4-BE49-F238E27FC236}">
                <a16:creationId xmlns:a16="http://schemas.microsoft.com/office/drawing/2014/main" id="{F53928C6-8D8D-871C-B916-0A98964C5912}"/>
              </a:ext>
            </a:extLst>
          </p:cNvPr>
          <p:cNvSpPr txBox="1"/>
          <p:nvPr/>
        </p:nvSpPr>
        <p:spPr>
          <a:xfrm>
            <a:off x="147116" y="1207994"/>
            <a:ext cx="8622705" cy="4613058"/>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Universities usually manage academics, student support, and administrative work using different systems or manual methods. Students often need to check notice boards, emails, or visit offices personally to get information about attendance, exams, results, or grievances. This makes the process slow and confusing for both students and staff.</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Unified University Management &amp; Student Support Platform</a:t>
            </a:r>
            <a:r>
              <a:rPr lang="en-US" dirty="0">
                <a:latin typeface="Times New Roman" panose="02020603050405020304" pitchFamily="18" charset="0"/>
                <a:cs typeface="Times New Roman" panose="02020603050405020304" pitchFamily="18" charset="0"/>
              </a:rPr>
              <a:t> is developed to solve this problem by providing a single web-based system for all university-related activities. It brings students, faculty, and administrators onto one platform where academic information, requests, and communication can be managed easily.</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reduces manual work, improves transparency, and ensures faster communication. By using role-based access, each user gets only the features relevant to them, making the platform simple, secure, and efficient for daily university operations.</a:t>
            </a:r>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133909"/>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C0A7A81-A06B-6693-FD6D-A6E47D9DE230}"/>
              </a:ext>
            </a:extLst>
          </p:cNvPr>
          <p:cNvSpPr txBox="1"/>
          <p:nvPr/>
        </p:nvSpPr>
        <p:spPr>
          <a:xfrm>
            <a:off x="539552" y="1320306"/>
            <a:ext cx="7776864" cy="2777940"/>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develop a centralized digital platform for academic management.</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reduce manual and paper-based academic processes.</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improve communication between students, faculty, and administrators.</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ensure secure storage and retrieval of academic data.</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a scalable and user-friendly system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732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E7F9AFDB-4223-970A-04AE-C3ACA9069416}"/>
              </a:ext>
            </a:extLst>
          </p:cNvPr>
          <p:cNvSpPr txBox="1"/>
          <p:nvPr/>
        </p:nvSpPr>
        <p:spPr>
          <a:xfrm>
            <a:off x="539552" y="1425574"/>
            <a:ext cx="8280920" cy="3331938"/>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Centralized student and faculty database</a:t>
            </a:r>
          </a:p>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Role-based access (Student, Faculty, Admin)</a:t>
            </a:r>
          </a:p>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Academic notices and announcements</a:t>
            </a:r>
          </a:p>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Course and academic record management</a:t>
            </a:r>
          </a:p>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Secure login and data handling</a:t>
            </a:r>
          </a:p>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Web-based, easy-to-use interface</a:t>
            </a:r>
          </a:p>
        </p:txBody>
      </p:sp>
    </p:spTree>
    <p:extLst>
      <p:ext uri="{BB962C8B-B14F-4D97-AF65-F5344CB8AC3E}">
        <p14:creationId xmlns:p14="http://schemas.microsoft.com/office/powerpoint/2010/main" val="95742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33F2B-4274-D144-7093-B867F4CB379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9527858-67DE-3DF8-FF01-8DB1846AEB1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D2CBC630-DA86-8B5C-8CF1-BBD133225A5E}"/>
              </a:ext>
            </a:extLst>
          </p:cNvPr>
          <p:cNvSpPr>
            <a:spLocks noChangeArrowheads="1"/>
          </p:cNvSpPr>
          <p:nvPr/>
        </p:nvSpPr>
        <p:spPr bwMode="auto">
          <a:xfrm>
            <a:off x="179512" y="244288"/>
            <a:ext cx="56886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Progress Summary</a:t>
            </a:r>
            <a:endParaRPr lang="en-IN" sz="32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FB5C432-E63F-6355-19A5-32B65372F4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6D3DC83-45E5-89A4-957B-69C5B50632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E6412DA-6D17-40E5-6A15-8B5AF801558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7C650417-E397-B592-A41D-A50F428B173E}"/>
              </a:ext>
            </a:extLst>
          </p:cNvPr>
          <p:cNvSpPr txBox="1"/>
          <p:nvPr/>
        </p:nvSpPr>
        <p:spPr>
          <a:xfrm>
            <a:off x="169055" y="1290053"/>
            <a:ext cx="8964488" cy="4708981"/>
          </a:xfrm>
          <a:prstGeom prst="rect">
            <a:avLst/>
          </a:prstGeom>
          <a:noFill/>
        </p:spPr>
        <p:txBody>
          <a:bodyPr wrap="square">
            <a:spAutoFit/>
          </a:bodyPr>
          <a:lstStyle/>
          <a:p>
            <a:r>
              <a:rPr lang="en-US" sz="2000" b="1" dirty="0"/>
              <a:t>1. Frontend Development (React)</a:t>
            </a:r>
          </a:p>
          <a:p>
            <a:pPr marL="285750" indent="-285750">
              <a:buFont typeface="Wingdings" panose="05000000000000000000" pitchFamily="2" charset="2"/>
              <a:buChar char="Ø"/>
            </a:pPr>
            <a:r>
              <a:rPr lang="en-US" sz="2000" dirty="0"/>
              <a:t>Implemented a </a:t>
            </a:r>
            <a:r>
              <a:rPr lang="en-US" sz="2000" b="1" dirty="0"/>
              <a:t>global search system</a:t>
            </a:r>
            <a:r>
              <a:rPr lang="en-US" sz="2000" dirty="0"/>
              <a:t> for easy navigation across the platform.</a:t>
            </a:r>
          </a:p>
          <a:p>
            <a:pPr marL="285750" indent="-285750">
              <a:buFont typeface="Wingdings" panose="05000000000000000000" pitchFamily="2" charset="2"/>
              <a:buChar char="Ø"/>
            </a:pPr>
            <a:r>
              <a:rPr lang="en-US" sz="2000" dirty="0"/>
              <a:t>Built a </a:t>
            </a:r>
            <a:r>
              <a:rPr lang="en-US" sz="2000" b="1" dirty="0"/>
              <a:t>notification center</a:t>
            </a:r>
            <a:r>
              <a:rPr lang="en-US" sz="2000" dirty="0"/>
              <a:t> to manage and display system alerts.</a:t>
            </a:r>
          </a:p>
          <a:p>
            <a:pPr marL="285750" indent="-285750">
              <a:buFont typeface="Wingdings" panose="05000000000000000000" pitchFamily="2" charset="2"/>
              <a:buChar char="Ø"/>
            </a:pPr>
            <a:r>
              <a:rPr lang="en-US" sz="2000" dirty="0"/>
              <a:t>Created </a:t>
            </a:r>
            <a:r>
              <a:rPr lang="en-US" sz="2000" b="1" dirty="0"/>
              <a:t>reusable UI components</a:t>
            </a:r>
            <a:r>
              <a:rPr lang="en-US" sz="2000" dirty="0"/>
              <a:t> to improve maintainability and consistency.</a:t>
            </a:r>
          </a:p>
          <a:p>
            <a:pPr marL="285750" indent="-285750">
              <a:buFont typeface="Wingdings" panose="05000000000000000000" pitchFamily="2" charset="2"/>
              <a:buChar char="Ø"/>
            </a:pPr>
            <a:r>
              <a:rPr lang="en-US" sz="2000" dirty="0"/>
              <a:t>Developed </a:t>
            </a:r>
            <a:r>
              <a:rPr lang="en-US" sz="2000" b="1" dirty="0"/>
              <a:t>dashboard analytics</a:t>
            </a:r>
            <a:r>
              <a:rPr lang="en-US" sz="2000" dirty="0"/>
              <a:t> for visual insights and metrics.</a:t>
            </a:r>
          </a:p>
          <a:p>
            <a:pPr marL="285750" indent="-285750">
              <a:buFont typeface="Wingdings" panose="05000000000000000000" pitchFamily="2" charset="2"/>
              <a:buChar char="Ø"/>
            </a:pPr>
            <a:r>
              <a:rPr lang="en-US" sz="2000" dirty="0"/>
              <a:t>Integrated an </a:t>
            </a:r>
            <a:r>
              <a:rPr lang="en-US" sz="2000" b="1" dirty="0"/>
              <a:t>academic calendar</a:t>
            </a:r>
            <a:r>
              <a:rPr lang="en-US" sz="2000" dirty="0"/>
              <a:t> feature.</a:t>
            </a:r>
          </a:p>
          <a:p>
            <a:pPr marL="285750" indent="-285750">
              <a:buFont typeface="Wingdings" panose="05000000000000000000" pitchFamily="2" charset="2"/>
              <a:buChar char="Ø"/>
            </a:pPr>
            <a:r>
              <a:rPr lang="en-US" sz="2000" dirty="0"/>
              <a:t> Added </a:t>
            </a:r>
            <a:r>
              <a:rPr lang="en-US" sz="2000" b="1" dirty="0"/>
              <a:t>dark mode support</a:t>
            </a:r>
            <a:r>
              <a:rPr lang="en-US" sz="2000" dirty="0"/>
              <a:t> for improved user experience.</a:t>
            </a:r>
          </a:p>
          <a:p>
            <a:pPr marL="285750" indent="-285750">
              <a:buFont typeface="Wingdings" panose="05000000000000000000" pitchFamily="2" charset="2"/>
              <a:buChar char="Ø"/>
            </a:pPr>
            <a:endParaRPr lang="en-US" sz="2000" dirty="0"/>
          </a:p>
          <a:p>
            <a:r>
              <a:rPr lang="en-IN" sz="2000" b="1" dirty="0"/>
              <a:t>2. Chatbot Module</a:t>
            </a:r>
          </a:p>
          <a:p>
            <a:pPr marL="285750" indent="-285750">
              <a:buFont typeface="Wingdings" panose="05000000000000000000" pitchFamily="2" charset="2"/>
              <a:buChar char="Ø"/>
            </a:pPr>
            <a:r>
              <a:rPr lang="en-IN" sz="2000" dirty="0"/>
              <a:t>Implemented a </a:t>
            </a:r>
            <a:r>
              <a:rPr lang="en-IN" sz="2000" b="1" dirty="0"/>
              <a:t>modular backend architecture</a:t>
            </a:r>
            <a:r>
              <a:rPr lang="en-IN" sz="2000" dirty="0"/>
              <a:t> including:</a:t>
            </a:r>
          </a:p>
          <a:p>
            <a:pPr marL="742950" lvl="1" indent="-285750">
              <a:buFont typeface="Wingdings" panose="05000000000000000000" pitchFamily="2" charset="2"/>
              <a:buChar char="Ø"/>
            </a:pPr>
            <a:r>
              <a:rPr lang="en-IN" sz="2000" dirty="0"/>
              <a:t>Routes</a:t>
            </a:r>
          </a:p>
          <a:p>
            <a:pPr marL="742950" lvl="1" indent="-285750">
              <a:buFont typeface="Wingdings" panose="05000000000000000000" pitchFamily="2" charset="2"/>
              <a:buChar char="Ø"/>
            </a:pPr>
            <a:r>
              <a:rPr lang="en-IN" sz="2000" dirty="0"/>
              <a:t>Controllers</a:t>
            </a:r>
          </a:p>
          <a:p>
            <a:pPr marL="742950" lvl="1" indent="-285750">
              <a:buFont typeface="Wingdings" panose="05000000000000000000" pitchFamily="2" charset="2"/>
              <a:buChar char="Ø"/>
            </a:pPr>
            <a:r>
              <a:rPr lang="en-IN" sz="2000" dirty="0"/>
              <a:t>Services</a:t>
            </a:r>
          </a:p>
          <a:p>
            <a:pPr marL="285750" indent="-285750">
              <a:buFont typeface="Wingdings" panose="05000000000000000000" pitchFamily="2" charset="2"/>
              <a:buChar char="Ø"/>
            </a:pPr>
            <a:r>
              <a:rPr lang="en-IN" sz="2000" dirty="0"/>
              <a:t>Developed </a:t>
            </a:r>
            <a:r>
              <a:rPr lang="en-IN" sz="2000" b="1" dirty="0"/>
              <a:t>request–response handling</a:t>
            </a:r>
            <a:r>
              <a:rPr lang="en-IN" sz="2000" dirty="0"/>
              <a:t> for chatbot interactions.</a:t>
            </a:r>
          </a:p>
          <a:p>
            <a:pPr marL="285750" indent="-285750">
              <a:buFont typeface="Wingdings" panose="05000000000000000000" pitchFamily="2" charset="2"/>
              <a:buChar char="Ø"/>
            </a:pPr>
            <a:r>
              <a:rPr lang="en-IN" sz="2000" dirty="0"/>
              <a:t>Added </a:t>
            </a:r>
            <a:r>
              <a:rPr lang="en-IN" sz="2000" b="1" dirty="0"/>
              <a:t>basic error handling</a:t>
            </a:r>
            <a:r>
              <a:rPr lang="en-IN" sz="2000" dirty="0"/>
              <a:t> to ensure system stability and proper API responses.</a:t>
            </a:r>
          </a:p>
        </p:txBody>
      </p:sp>
    </p:spTree>
    <p:extLst>
      <p:ext uri="{BB962C8B-B14F-4D97-AF65-F5344CB8AC3E}">
        <p14:creationId xmlns:p14="http://schemas.microsoft.com/office/powerpoint/2010/main" val="1305621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C45B-C9D0-DBF5-811F-0F08DB7B92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CCAFCE0-31E7-9CED-BEF6-9C94A97D7C0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C8D1C93-2569-153C-C90B-6D82C35C195E}"/>
              </a:ext>
            </a:extLst>
          </p:cNvPr>
          <p:cNvSpPr>
            <a:spLocks noChangeArrowheads="1"/>
          </p:cNvSpPr>
          <p:nvPr/>
        </p:nvSpPr>
        <p:spPr bwMode="auto">
          <a:xfrm>
            <a:off x="179512" y="377423"/>
            <a:ext cx="89644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kern="100" dirty="0">
                <a:latin typeface="Verdana" panose="020B0604030504040204" pitchFamily="34" charset="0"/>
                <a:cs typeface="Times New Roman" panose="02020603050405020304" pitchFamily="18" charset="0"/>
                <a:sym typeface="Arial"/>
              </a:rPr>
              <a:t>Detailed Progress – Development Phase</a:t>
            </a:r>
            <a:endParaRPr lang="en-IN" sz="28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6161CDA-82E4-E4CE-AB8A-F7E4594878E9}"/>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B65409-50C0-1C48-4C06-AA7695D3A2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TextBox 2">
            <a:extLst>
              <a:ext uri="{FF2B5EF4-FFF2-40B4-BE49-F238E27FC236}">
                <a16:creationId xmlns:a16="http://schemas.microsoft.com/office/drawing/2014/main" id="{8E915949-DF11-7F3B-1E07-5E969231ECDD}"/>
              </a:ext>
            </a:extLst>
          </p:cNvPr>
          <p:cNvSpPr txBox="1"/>
          <p:nvPr/>
        </p:nvSpPr>
        <p:spPr>
          <a:xfrm>
            <a:off x="395536" y="1282821"/>
            <a:ext cx="7632848" cy="2185214"/>
          </a:xfrm>
          <a:prstGeom prst="rect">
            <a:avLst/>
          </a:prstGeom>
          <a:noFill/>
        </p:spPr>
        <p:txBody>
          <a:bodyPr wrap="square">
            <a:spAutoFit/>
          </a:bodyPr>
          <a:lstStyle/>
          <a:p>
            <a:pPr>
              <a:buNone/>
            </a:pPr>
            <a:r>
              <a:rPr lang="en-US" b="1" dirty="0"/>
              <a:t>3. Backend Development</a:t>
            </a:r>
          </a:p>
          <a:p>
            <a:pPr>
              <a:buNone/>
            </a:pPr>
            <a:endParaRPr lang="en-US" b="1" dirty="0"/>
          </a:p>
          <a:p>
            <a:pPr marL="285750" indent="-285750">
              <a:buFont typeface="Wingdings" panose="05000000000000000000" pitchFamily="2" charset="2"/>
              <a:buChar char="Ø"/>
            </a:pPr>
            <a:r>
              <a:rPr lang="en-US" sz="2000" dirty="0"/>
              <a:t>Backend infrastructure has been completely set up.</a:t>
            </a:r>
          </a:p>
          <a:p>
            <a:pPr marL="285750" indent="-285750">
              <a:buFont typeface="Wingdings" panose="05000000000000000000" pitchFamily="2" charset="2"/>
              <a:buChar char="Ø"/>
            </a:pPr>
            <a:r>
              <a:rPr lang="en-US" sz="2000" dirty="0"/>
              <a:t>All required APIs have been developed and are functioning successfully.</a:t>
            </a:r>
          </a:p>
          <a:p>
            <a:pPr marL="285750" indent="-285750">
              <a:buFont typeface="Wingdings" panose="05000000000000000000" pitchFamily="2" charset="2"/>
              <a:buChar char="Ø"/>
            </a:pPr>
            <a:r>
              <a:rPr lang="en-US" sz="2000" dirty="0"/>
              <a:t>Database integration completed using </a:t>
            </a:r>
            <a:r>
              <a:rPr lang="en-US" sz="2000" b="1" dirty="0"/>
              <a:t>MongoDB Atlas</a:t>
            </a:r>
            <a:r>
              <a:rPr lang="en-US" sz="2000" dirty="0"/>
              <a:t>.</a:t>
            </a:r>
          </a:p>
          <a:p>
            <a:pPr marL="285750" indent="-285750">
              <a:buFont typeface="Wingdings" panose="05000000000000000000" pitchFamily="2" charset="2"/>
              <a:buChar char="Ø"/>
            </a:pPr>
            <a:r>
              <a:rPr lang="en-US" sz="2000" dirty="0"/>
              <a:t>Proper server configuration and routing structure implemented.</a:t>
            </a:r>
          </a:p>
        </p:txBody>
      </p:sp>
    </p:spTree>
    <p:extLst>
      <p:ext uri="{BB962C8B-B14F-4D97-AF65-F5344CB8AC3E}">
        <p14:creationId xmlns:p14="http://schemas.microsoft.com/office/powerpoint/2010/main" val="130254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224559"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12799" y="6375514"/>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338725FB-BA19-6C2C-B258-DF6C9914C19A}"/>
              </a:ext>
            </a:extLst>
          </p:cNvPr>
          <p:cNvSpPr txBox="1"/>
          <p:nvPr/>
        </p:nvSpPr>
        <p:spPr>
          <a:xfrm>
            <a:off x="44047" y="1011546"/>
            <a:ext cx="8964488" cy="5547481"/>
          </a:xfrm>
          <a:prstGeom prst="rect">
            <a:avLst/>
          </a:prstGeom>
          <a:noFill/>
        </p:spPr>
        <p:txBody>
          <a:bodyPr wrap="square">
            <a:spAutoFit/>
          </a:bodyPr>
          <a:lstStyle/>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Research and Analysis:</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Study existing university management systems and identify challenges faced by students, faculty, and administrators in managing academic and administrative processes. </a:t>
            </a:r>
          </a:p>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Requirement Specification:</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Define detailed </a:t>
            </a:r>
            <a:r>
              <a:rPr lang="en-IN" sz="1400" b="1" dirty="0">
                <a:latin typeface="Times New Roman" panose="02020603050405020304" pitchFamily="18" charset="0"/>
                <a:ea typeface="Verdana" panose="020B0604030504040204" pitchFamily="34" charset="0"/>
                <a:cs typeface="Times New Roman" panose="02020603050405020304" pitchFamily="18" charset="0"/>
              </a:rPr>
              <a:t>functional and non-functional requirements</a:t>
            </a:r>
            <a:r>
              <a:rPr lang="en-IN" sz="1400" dirty="0">
                <a:latin typeface="Times New Roman" panose="02020603050405020304" pitchFamily="18" charset="0"/>
                <a:ea typeface="Verdana" panose="020B0604030504040204" pitchFamily="34" charset="0"/>
                <a:cs typeface="Times New Roman" panose="02020603050405020304" pitchFamily="18" charset="0"/>
              </a:rPr>
              <a:t> for the Student, Faculty, and Admin modules based on the identified academic and administrative needs.</a:t>
            </a:r>
          </a:p>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Design and Prototyping:</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Create system architecture diagrams, database schemas, and UI wireframes using tools such as Figma to visualize role-based dashboards and user interactions.</a:t>
            </a:r>
          </a:p>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Development:</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Implement the platform using modern front-end and back-end technologies. Secure authentication, role-based access control (RBAC), and scalable RESTful APIs will be developed to ensure data integrity and system security.</a:t>
            </a:r>
          </a:p>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Testing and Validation:</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Perform unit testing, integration testing, and usability testing to identify bugs, verify functionality, and validate system performance across all modules.</a:t>
            </a:r>
          </a:p>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Deployment and Maintenance:</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Deploy the application using local or containerized environments (Docker).</a:t>
            </a:r>
          </a:p>
        </p:txBody>
      </p:sp>
    </p:spTree>
    <p:extLst>
      <p:ext uri="{BB962C8B-B14F-4D97-AF65-F5344CB8AC3E}">
        <p14:creationId xmlns:p14="http://schemas.microsoft.com/office/powerpoint/2010/main" val="1099878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sp>
        <p:nvSpPr>
          <p:cNvPr id="5" name="Rectangle 1"/>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BB1AC4FE-9A4F-F464-CA8E-3B900C29746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72AEF02E-64A6-6432-1444-81368AF7F7EA}"/>
                  </a:ext>
                </a:extLst>
              </p14:cNvPr>
              <p14:cNvContentPartPr/>
              <p14:nvPr/>
            </p14:nvContentPartPr>
            <p14:xfrm>
              <a:off x="6087360" y="2475240"/>
              <a:ext cx="646200" cy="333720"/>
            </p14:xfrm>
          </p:contentPart>
        </mc:Choice>
        <mc:Fallback xmlns="">
          <p:pic>
            <p:nvPicPr>
              <p:cNvPr id="14" name="Ink 13">
                <a:extLst>
                  <a:ext uri="{FF2B5EF4-FFF2-40B4-BE49-F238E27FC236}">
                    <a16:creationId xmlns:a16="http://schemas.microsoft.com/office/drawing/2014/main" id="{72AEF02E-64A6-6432-1444-81368AF7F7EA}"/>
                  </a:ext>
                </a:extLst>
              </p:cNvPr>
              <p:cNvPicPr/>
              <p:nvPr/>
            </p:nvPicPr>
            <p:blipFill>
              <a:blip r:embed="rId7"/>
              <a:stretch>
                <a:fillRect/>
              </a:stretch>
            </p:blipFill>
            <p:spPr>
              <a:xfrm>
                <a:off x="6024360" y="2412240"/>
                <a:ext cx="771840" cy="459360"/>
              </a:xfrm>
              <a:prstGeom prst="rect">
                <a:avLst/>
              </a:prstGeom>
            </p:spPr>
          </p:pic>
        </mc:Fallback>
      </mc:AlternateContent>
      <p:pic>
        <p:nvPicPr>
          <p:cNvPr id="10" name="Picture 9">
            <a:extLst>
              <a:ext uri="{FF2B5EF4-FFF2-40B4-BE49-F238E27FC236}">
                <a16:creationId xmlns:a16="http://schemas.microsoft.com/office/drawing/2014/main" id="{AC89024B-8FFF-8BA0-7FEE-4B8916167485}"/>
              </a:ext>
            </a:extLst>
          </p:cNvPr>
          <p:cNvPicPr>
            <a:picLocks noChangeAspect="1"/>
          </p:cNvPicPr>
          <p:nvPr/>
        </p:nvPicPr>
        <p:blipFill>
          <a:blip r:embed="rId8"/>
          <a:stretch>
            <a:fillRect/>
          </a:stretch>
        </p:blipFill>
        <p:spPr>
          <a:xfrm>
            <a:off x="177133" y="1256062"/>
            <a:ext cx="8787356" cy="4923227"/>
          </a:xfrm>
          <a:prstGeom prst="rect">
            <a:avLst/>
          </a:prstGeom>
        </p:spPr>
      </p:pic>
    </p:spTree>
    <p:extLst>
      <p:ext uri="{BB962C8B-B14F-4D97-AF65-F5344CB8AC3E}">
        <p14:creationId xmlns:p14="http://schemas.microsoft.com/office/powerpoint/2010/main" val="2093371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BE56-1D41-7167-8FFB-A09C6DDBB47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FB3A7BE-7862-048E-951C-86CFD388A53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sp>
        <p:nvSpPr>
          <p:cNvPr id="5" name="Rectangle 1">
            <a:extLst>
              <a:ext uri="{FF2B5EF4-FFF2-40B4-BE49-F238E27FC236}">
                <a16:creationId xmlns:a16="http://schemas.microsoft.com/office/drawing/2014/main" id="{BF1F4E46-D933-954B-D887-0C743D7A6222}"/>
              </a:ext>
            </a:extLst>
          </p:cNvPr>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a:t>
            </a:r>
            <a:endParaRPr lang="en-IN" sz="3200" b="1" dirty="0">
              <a:solidFill>
                <a:srgbClr val="E31E24"/>
              </a:solidFill>
              <a:cs typeface="Times New Roman" panose="02020603050405020304" pitchFamily="18" charset="0"/>
              <a:sym typeface="Arial"/>
            </a:endParaRPr>
          </a:p>
        </p:txBody>
      </p:sp>
      <p:pic>
        <p:nvPicPr>
          <p:cNvPr id="9" name="Picture 8">
            <a:extLst>
              <a:ext uri="{FF2B5EF4-FFF2-40B4-BE49-F238E27FC236}">
                <a16:creationId xmlns:a16="http://schemas.microsoft.com/office/drawing/2014/main" id="{3926CD72-25A6-86DC-34B2-F6A291749F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4D0BEBF-445B-BE7B-3FF6-A71A2B58737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FC27A688-8646-DB1F-FAA1-AE2FA984425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 name="Picture 9">
            <a:extLst>
              <a:ext uri="{FF2B5EF4-FFF2-40B4-BE49-F238E27FC236}">
                <a16:creationId xmlns:a16="http://schemas.microsoft.com/office/drawing/2014/main" id="{898B4ECC-4249-7EE4-C555-A8684629F02C}"/>
              </a:ext>
            </a:extLst>
          </p:cNvPr>
          <p:cNvPicPr>
            <a:picLocks noChangeAspect="1"/>
          </p:cNvPicPr>
          <p:nvPr/>
        </p:nvPicPr>
        <p:blipFill>
          <a:blip r:embed="rId5"/>
          <a:stretch>
            <a:fillRect/>
          </a:stretch>
        </p:blipFill>
        <p:spPr>
          <a:xfrm>
            <a:off x="323528" y="1276028"/>
            <a:ext cx="8640960" cy="4903253"/>
          </a:xfrm>
          <a:prstGeom prst="rect">
            <a:avLst/>
          </a:prstGeom>
        </p:spPr>
      </p:pic>
    </p:spTree>
    <p:extLst>
      <p:ext uri="{BB962C8B-B14F-4D97-AF65-F5344CB8AC3E}">
        <p14:creationId xmlns:p14="http://schemas.microsoft.com/office/powerpoint/2010/main" val="292643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F38D3-FF9E-921A-45F5-06618ED105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1450F70-1F6D-E06C-7FAE-B3B80FAB12A9}"/>
              </a:ext>
            </a:extLst>
          </p:cNvPr>
          <p:cNvSpPr>
            <a:spLocks noGrp="1"/>
          </p:cNvSpPr>
          <p:nvPr>
            <p:ph idx="1"/>
          </p:nvPr>
        </p:nvSpPr>
        <p:spPr/>
        <p:txBody>
          <a:bodyPr/>
          <a:lstStyle/>
          <a:p>
            <a:endParaRPr lang="en-IN"/>
          </a:p>
        </p:txBody>
      </p:sp>
      <p:pic>
        <p:nvPicPr>
          <p:cNvPr id="4" name="Content Placeholder 3">
            <a:extLst>
              <a:ext uri="{FF2B5EF4-FFF2-40B4-BE49-F238E27FC236}">
                <a16:creationId xmlns:a16="http://schemas.microsoft.com/office/drawing/2014/main" id="{C6A5FD08-6D16-7F85-EA8B-A78809C369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9180512" cy="6885384"/>
          </a:xfrm>
          <a:prstGeom prst="rect">
            <a:avLst/>
          </a:prstGeom>
        </p:spPr>
      </p:pic>
      <p:sp>
        <p:nvSpPr>
          <p:cNvPr id="7" name="TextBox 6">
            <a:extLst>
              <a:ext uri="{FF2B5EF4-FFF2-40B4-BE49-F238E27FC236}">
                <a16:creationId xmlns:a16="http://schemas.microsoft.com/office/drawing/2014/main" id="{DCF7EE6E-4EBE-288E-AA2C-8B1791343963}"/>
              </a:ext>
            </a:extLst>
          </p:cNvPr>
          <p:cNvSpPr txBox="1"/>
          <p:nvPr/>
        </p:nvSpPr>
        <p:spPr>
          <a:xfrm>
            <a:off x="425103" y="362505"/>
            <a:ext cx="8712968" cy="584775"/>
          </a:xfrm>
          <a:prstGeom prst="rect">
            <a:avLst/>
          </a:prstGeom>
          <a:noFill/>
        </p:spPr>
        <p:txBody>
          <a:bodyPr wrap="square">
            <a:spAutoFit/>
          </a:bodyPr>
          <a:lstStyle/>
          <a:p>
            <a:r>
              <a:rPr lang="en-US" sz="3200" b="1" kern="100" dirty="0">
                <a:effectLst/>
                <a:latin typeface="Times New Roman" panose="02020603050405020304" pitchFamily="18" charset="0"/>
                <a:ea typeface="Times New Roman" panose="02020603050405020304" pitchFamily="18" charset="0"/>
                <a:cs typeface="Times New Roman" panose="02020603050405020304" pitchFamily="18" charset="0"/>
              </a:rPr>
              <a:t>Prototype</a:t>
            </a:r>
            <a:endParaRPr lang="en-IN"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F222086-A20A-7049-0744-A17C1E596D3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341C472-00D1-AB68-25C3-746FC86BFC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pic>
        <p:nvPicPr>
          <p:cNvPr id="11" name="Picture 10">
            <a:extLst>
              <a:ext uri="{FF2B5EF4-FFF2-40B4-BE49-F238E27FC236}">
                <a16:creationId xmlns:a16="http://schemas.microsoft.com/office/drawing/2014/main" id="{8855FEF6-2A26-5798-2A79-21546BFA562E}"/>
              </a:ext>
            </a:extLst>
          </p:cNvPr>
          <p:cNvPicPr>
            <a:picLocks noChangeAspect="1"/>
          </p:cNvPicPr>
          <p:nvPr/>
        </p:nvPicPr>
        <p:blipFill>
          <a:blip r:embed="rId4"/>
          <a:stretch>
            <a:fillRect/>
          </a:stretch>
        </p:blipFill>
        <p:spPr>
          <a:xfrm>
            <a:off x="251520" y="1234832"/>
            <a:ext cx="8640960" cy="4960319"/>
          </a:xfrm>
          <a:prstGeom prst="rect">
            <a:avLst/>
          </a:prstGeom>
        </p:spPr>
      </p:pic>
    </p:spTree>
    <p:extLst>
      <p:ext uri="{BB962C8B-B14F-4D97-AF65-F5344CB8AC3E}">
        <p14:creationId xmlns:p14="http://schemas.microsoft.com/office/powerpoint/2010/main" val="1221482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42DB-FF71-D8E6-630F-399C60C536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FB631E-E469-C80D-C58A-99E545F3785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B6D9598-AD90-B9CA-8610-998CE22F1CA3}"/>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362D34C-9176-DD2A-8AAF-507BD46BD7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66F8A4-300F-9AE0-4A5E-2A2D19A8A5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166FAC4-E627-209B-D9A4-20EC84D69C4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D3A55479-5820-9331-B8CC-0F9A13C7AC18}"/>
                  </a:ext>
                </a:extLst>
              </p14:cNvPr>
              <p14:cNvContentPartPr/>
              <p14:nvPr/>
            </p14:nvContentPartPr>
            <p14:xfrm>
              <a:off x="7203160" y="2489200"/>
              <a:ext cx="484560" cy="34920"/>
            </p14:xfrm>
          </p:contentPart>
        </mc:Choice>
        <mc:Fallback xmlns="">
          <p:pic>
            <p:nvPicPr>
              <p:cNvPr id="11" name="Ink 10">
                <a:extLst>
                  <a:ext uri="{FF2B5EF4-FFF2-40B4-BE49-F238E27FC236}">
                    <a16:creationId xmlns:a16="http://schemas.microsoft.com/office/drawing/2014/main" id="{D3A55479-5820-9331-B8CC-0F9A13C7AC18}"/>
                  </a:ext>
                </a:extLst>
              </p:cNvPr>
              <p:cNvPicPr/>
              <p:nvPr/>
            </p:nvPicPr>
            <p:blipFill>
              <a:blip r:embed="rId7"/>
              <a:stretch>
                <a:fillRect/>
              </a:stretch>
            </p:blipFill>
            <p:spPr>
              <a:xfrm>
                <a:off x="7140520" y="2426200"/>
                <a:ext cx="610200" cy="160560"/>
              </a:xfrm>
              <a:prstGeom prst="rect">
                <a:avLst/>
              </a:prstGeom>
            </p:spPr>
          </p:pic>
        </mc:Fallback>
      </mc:AlternateContent>
      <p:pic>
        <p:nvPicPr>
          <p:cNvPr id="2" name="Picture 1">
            <a:extLst>
              <a:ext uri="{FF2B5EF4-FFF2-40B4-BE49-F238E27FC236}">
                <a16:creationId xmlns:a16="http://schemas.microsoft.com/office/drawing/2014/main" id="{3F1993AB-107C-D90D-CC83-98DD8369A1FE}"/>
              </a:ext>
            </a:extLst>
          </p:cNvPr>
          <p:cNvPicPr>
            <a:picLocks noChangeAspect="1"/>
          </p:cNvPicPr>
          <p:nvPr/>
        </p:nvPicPr>
        <p:blipFill>
          <a:blip r:embed="rId8"/>
          <a:stretch>
            <a:fillRect/>
          </a:stretch>
        </p:blipFill>
        <p:spPr>
          <a:xfrm>
            <a:off x="323528" y="1124744"/>
            <a:ext cx="8748464" cy="5218354"/>
          </a:xfrm>
          <a:prstGeom prst="rect">
            <a:avLst/>
          </a:prstGeom>
        </p:spPr>
      </p:pic>
    </p:spTree>
    <p:extLst>
      <p:ext uri="{BB962C8B-B14F-4D97-AF65-F5344CB8AC3E}">
        <p14:creationId xmlns:p14="http://schemas.microsoft.com/office/powerpoint/2010/main" val="3449508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4976" y="-13692"/>
            <a:ext cx="9180512" cy="6885384"/>
          </a:xfrm>
        </p:spPr>
      </p:pic>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FC8CE7B-65D1-C68B-9A04-01AB74BE84D1}"/>
              </a:ext>
            </a:extLst>
          </p:cNvPr>
          <p:cNvSpPr txBox="1"/>
          <p:nvPr/>
        </p:nvSpPr>
        <p:spPr>
          <a:xfrm>
            <a:off x="35022" y="1222184"/>
            <a:ext cx="8496944" cy="5146217"/>
          </a:xfrm>
          <a:prstGeom prst="rect">
            <a:avLst/>
          </a:prstGeom>
          <a:noFill/>
        </p:spPr>
        <p:txBody>
          <a:bodyPr wrap="square">
            <a:spAutoFit/>
          </a:bodyPr>
          <a:lstStyle/>
          <a:p>
            <a:pPr>
              <a:lnSpc>
                <a:spcPct val="107000"/>
              </a:lnSpc>
              <a:spcAft>
                <a:spcPts val="800"/>
              </a:spcAft>
            </a:pPr>
            <a:r>
              <a:rPr lang="en-IN" sz="1600" b="1" kern="100" dirty="0">
                <a:latin typeface="Times New Roman" panose="02020603050405020304" pitchFamily="18" charset="0"/>
                <a:ea typeface="Calibri" panose="020F0502020204030204" pitchFamily="34" charset="0"/>
                <a:cs typeface="Times New Roman" panose="02020603050405020304" pitchFamily="18" charset="0"/>
              </a:rPr>
              <a:t>Use Cases for Administrators:</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Verification of safe administrators</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Control roles and users</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Make academic announcements and bulletins public.</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Manage academic calendar</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Monitor the grievance process</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Create academic reports and attendance records.</a:t>
            </a:r>
            <a:br>
              <a:rPr lang="en-IN" sz="1600" kern="100" dirty="0">
                <a:latin typeface="Times New Roman" panose="02020603050405020304" pitchFamily="18" charset="0"/>
                <a:ea typeface="Calibri" panose="020F0502020204030204" pitchFamily="34" charset="0"/>
                <a:cs typeface="Times New Roman" panose="02020603050405020304" pitchFamily="18" charset="0"/>
              </a:rPr>
            </a:br>
            <a:endParaRPr lang="en-IN" sz="1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1600" b="1" kern="100" dirty="0">
                <a:latin typeface="Times New Roman" panose="02020603050405020304" pitchFamily="18" charset="0"/>
                <a:ea typeface="Calibri" panose="020F0502020204030204" pitchFamily="34" charset="0"/>
                <a:cs typeface="Times New Roman" panose="02020603050405020304" pitchFamily="18" charset="0"/>
              </a:rPr>
              <a:t>Use Cases for Students-</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Secure login and user registration</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Review and edit your personal profile.</a:t>
            </a:r>
          </a:p>
          <a:p>
            <a:pPr marL="285750" indent="-285750">
              <a:lnSpc>
                <a:spcPct val="107000"/>
              </a:lnSpc>
              <a:spcAft>
                <a:spcPts val="800"/>
              </a:spcAft>
              <a:buFont typeface="Wingdings" panose="05000000000000000000" pitchFamily="2" charset="2"/>
              <a:buChar char="ü"/>
            </a:pPr>
            <a:r>
              <a:rPr lang="en-IN" sz="1600" kern="100" dirty="0" err="1">
                <a:latin typeface="Times New Roman" panose="02020603050405020304" pitchFamily="18" charset="0"/>
                <a:ea typeface="Calibri" panose="020F0502020204030204" pitchFamily="34" charset="0"/>
                <a:cs typeface="Times New Roman" panose="02020603050405020304" pitchFamily="18" charset="0"/>
              </a:rPr>
              <a:t>Analyze</a:t>
            </a:r>
            <a:r>
              <a:rPr lang="en-IN" sz="1600" kern="100" dirty="0">
                <a:latin typeface="Times New Roman" panose="02020603050405020304" pitchFamily="18" charset="0"/>
                <a:ea typeface="Calibri" panose="020F0502020204030204" pitchFamily="34" charset="0"/>
                <a:cs typeface="Times New Roman" panose="02020603050405020304" pitchFamily="18" charset="0"/>
              </a:rPr>
              <a:t> both overall and subject-specific attendance.</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View the schedule and exam results.</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Receive notifications and announcements</a:t>
            </a:r>
          </a:p>
          <a:p>
            <a:pPr marL="285750" indent="-285750">
              <a:lnSpc>
                <a:spcPct val="107000"/>
              </a:lnSpc>
              <a:spcAft>
                <a:spcPts val="800"/>
              </a:spcAft>
              <a:buFont typeface="Wingdings" panose="05000000000000000000" pitchFamily="2" charset="2"/>
              <a:buChar char="ü"/>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File complaints and monitor their progress</a:t>
            </a:r>
          </a:p>
        </p:txBody>
      </p:sp>
    </p:spTree>
    <p:extLst>
      <p:ext uri="{BB962C8B-B14F-4D97-AF65-F5344CB8AC3E}">
        <p14:creationId xmlns:p14="http://schemas.microsoft.com/office/powerpoint/2010/main" val="3295812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78529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F39FB94-24ED-8FDE-1975-692EBD5A8814}"/>
              </a:ext>
            </a:extLst>
          </p:cNvPr>
          <p:cNvSpPr txBox="1"/>
          <p:nvPr/>
        </p:nvSpPr>
        <p:spPr>
          <a:xfrm>
            <a:off x="215481" y="1239149"/>
            <a:ext cx="7704856" cy="3161443"/>
          </a:xfrm>
          <a:prstGeom prst="rect">
            <a:avLst/>
          </a:prstGeom>
          <a:noFill/>
        </p:spPr>
        <p:txBody>
          <a:bodyPr wrap="square">
            <a:spAutoFit/>
          </a:bodyPr>
          <a:lstStyle/>
          <a:p>
            <a:pPr>
              <a:lnSpc>
                <a:spcPct val="107000"/>
              </a:lnSpc>
              <a:spcAft>
                <a:spcPts val="800"/>
              </a:spcAft>
            </a:pPr>
            <a:r>
              <a:rPr lang="en-IN" b="1" kern="100" dirty="0">
                <a:latin typeface="Times New Roman" panose="02020603050405020304" pitchFamily="18" charset="0"/>
                <a:ea typeface="Calibri" panose="020F0502020204030204" pitchFamily="34" charset="0"/>
                <a:cs typeface="Times New Roman" panose="02020603050405020304" pitchFamily="18" charset="0"/>
              </a:rPr>
              <a:t>Use Cases for Administrators: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Verification of safe administrators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Control roles and users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Make academic announcements and bulletins public.</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Manage academic calendar</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Monitor the grievance process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Create academic reports and attendance records.</a:t>
            </a:r>
          </a:p>
          <a:p>
            <a:pPr>
              <a:lnSpc>
                <a:spcPct val="107000"/>
              </a:lnSpc>
              <a:spcAft>
                <a:spcPts val="800"/>
              </a:spcAft>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49068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A1783413-A762-C214-8225-FFC345EE18C5}"/>
              </a:ext>
            </a:extLst>
          </p:cNvPr>
          <p:cNvSpPr txBox="1"/>
          <p:nvPr/>
        </p:nvSpPr>
        <p:spPr>
          <a:xfrm>
            <a:off x="323528" y="1430790"/>
            <a:ext cx="8496944" cy="4480073"/>
          </a:xfrm>
          <a:prstGeom prst="rect">
            <a:avLst/>
          </a:prstGeom>
          <a:noFill/>
        </p:spPr>
        <p:txBody>
          <a:bodyPr wrap="square">
            <a:spAutoFit/>
          </a:bodyPr>
          <a:lstStyle/>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Development of a centralized, secure, and role-based university management platform for students, faculty, and administrators.</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Automation of academic and administrative processes such as attendance tracking, marks management, notifications, and grievance handling.</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Reduction in manual workload and processing delays, leading to improved operational efficiency.</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Enhanced transparency and accountability through real-time access to academic records and request status tracking.</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Improved communication and engagement among students, faculty, and administration.</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Accurate and reliable data availability supporting informed academic and administrative decision-making.</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User-friendly and scalable system architecture that can support future enhancements with minimal </a:t>
            </a:r>
            <a:r>
              <a:rPr lang="en-US" altLang="en-US" sz="1600" dirty="0" err="1">
                <a:latin typeface="Times New Roman" panose="02020603050405020304" pitchFamily="18" charset="0"/>
                <a:ea typeface="Verdana" panose="020B0604030504040204" pitchFamily="34" charset="0"/>
                <a:cs typeface="Times New Roman" panose="02020603050405020304" pitchFamily="18" charset="0"/>
              </a:rPr>
              <a:t>cost.S</a:t>
            </a:r>
            <a:endParaRPr lang="en-US" altLang="en-US" sz="1600"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6260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3d8d2e5-9b58-4a5c-856a-f65c2b00b9a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AACB7372627F24AA0854C277067D198" ma:contentTypeVersion="5" ma:contentTypeDescription="Create a new document." ma:contentTypeScope="" ma:versionID="6b42e12a2bf22ce547b20c29c530569e">
  <xsd:schema xmlns:xsd="http://www.w3.org/2001/XMLSchema" xmlns:xs="http://www.w3.org/2001/XMLSchema" xmlns:p="http://schemas.microsoft.com/office/2006/metadata/properties" xmlns:ns3="73d8d2e5-9b58-4a5c-856a-f65c2b00b9af" targetNamespace="http://schemas.microsoft.com/office/2006/metadata/properties" ma:root="true" ma:fieldsID="e9bfeda878e31c892e069e2878157f77" ns3:_="">
    <xsd:import namespace="73d8d2e5-9b58-4a5c-856a-f65c2b00b9af"/>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d8d2e5-9b58-4a5c-856a-f65c2b00b9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B11598-5E1C-4461-87B2-39DBC127C905}">
  <ds:schemaRefs>
    <ds:schemaRef ds:uri="73d8d2e5-9b58-4a5c-856a-f65c2b00b9af"/>
    <ds:schemaRef ds:uri="http://purl.org/dc/elements/1.1/"/>
    <ds:schemaRef ds:uri="http://schemas.microsoft.com/office/infopath/2007/PartnerControls"/>
    <ds:schemaRef ds:uri="http://schemas.openxmlformats.org/package/2006/metadata/core-properties"/>
    <ds:schemaRef ds:uri="http://schemas.microsoft.com/office/2006/documentManagement/types"/>
    <ds:schemaRef ds:uri="http://schemas.microsoft.com/office/2006/metadata/properties"/>
    <ds:schemaRef ds:uri="http://purl.org/dc/terms/"/>
    <ds:schemaRef ds:uri="http://purl.org/dc/dcmitype/"/>
    <ds:schemaRef ds:uri="http://www.w3.org/XML/1998/namespace"/>
  </ds:schemaRefs>
</ds:datastoreItem>
</file>

<file path=customXml/itemProps2.xml><?xml version="1.0" encoding="utf-8"?>
<ds:datastoreItem xmlns:ds="http://schemas.openxmlformats.org/officeDocument/2006/customXml" ds:itemID="{0CA1D386-AEFA-42BC-8849-7996337C98A5}">
  <ds:schemaRefs>
    <ds:schemaRef ds:uri="http://schemas.microsoft.com/sharepoint/v3/contenttype/forms"/>
  </ds:schemaRefs>
</ds:datastoreItem>
</file>

<file path=customXml/itemProps3.xml><?xml version="1.0" encoding="utf-8"?>
<ds:datastoreItem xmlns:ds="http://schemas.openxmlformats.org/officeDocument/2006/customXml" ds:itemID="{FDD5961F-6438-4E2A-874E-8759962101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d8d2e5-9b58-4a5c-856a-f65c2b00b9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6425</TotalTime>
  <Words>925</Words>
  <Application>Microsoft Office PowerPoint</Application>
  <PresentationFormat>On-screen Show (4:3)</PresentationFormat>
  <Paragraphs>135</Paragraphs>
  <Slides>16</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Cambria</vt:lpstr>
      <vt:lpstr>Garamond</vt:lpstr>
      <vt:lpstr>Symbol</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vaibhav</dc:creator>
  <cp:lastModifiedBy>ADEELA AZEEZ 2301010282</cp:lastModifiedBy>
  <cp:revision>315</cp:revision>
  <cp:lastPrinted>2022-09-05T08:43:44Z</cp:lastPrinted>
  <dcterms:created xsi:type="dcterms:W3CDTF">2020-01-16T09:05:56Z</dcterms:created>
  <dcterms:modified xsi:type="dcterms:W3CDTF">2026-04-03T19:57:26Z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0x010100CAACB7372627F24AA0854C277067D198</vt:lpwstr>
  </property>
</Properties>
</file>