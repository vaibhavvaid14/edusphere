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97" r:id="rId3"/>
    <p:sldId id="499" r:id="rId4"/>
    <p:sldId id="507" r:id="rId5"/>
    <p:sldId id="500" r:id="rId6"/>
    <p:sldId id="501" r:id="rId7"/>
    <p:sldId id="502" r:id="rId8"/>
    <p:sldId id="511" r:id="rId9"/>
    <p:sldId id="508" r:id="rId10"/>
    <p:sldId id="506" r:id="rId11"/>
    <p:sldId id="509" r:id="rId12"/>
    <p:sldId id="269" r:id="rId1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29-01-2026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3265135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B42-67FF-A56C-05D1-F3CA77565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08E-4C40-8FA2-5882-5CAF979E3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6B8-D38C-99EF-99AB-B9CFD6B0BBF2}"/>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4960A5D-F436-34AE-AEE7-EA596C7FBA4F}"/>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937180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FAA-8FF1-CA16-503E-7EE1828F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F11-2325-93C8-615C-4DD2EC242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88F-6B42-67A0-95F1-7C89B0444CF9}"/>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58F2525-8EA6-D7F2-FEE2-460ED625C131}"/>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186688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29-01-2026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a:cxnSpLocks/>
          </p:cNvCxnSpPr>
          <p:nvPr/>
        </p:nvCxnSpPr>
        <p:spPr>
          <a:xfrm>
            <a:off x="1093304" y="2060848"/>
            <a:ext cx="6887818"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16562"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5" name="TextBox 4">
            <a:extLst>
              <a:ext uri="{FF2B5EF4-FFF2-40B4-BE49-F238E27FC236}">
                <a16:creationId xmlns:a16="http://schemas.microsoft.com/office/drawing/2014/main" id="{3DF18845-4075-32C5-8F4A-4F40F86E837F}"/>
              </a:ext>
            </a:extLst>
          </p:cNvPr>
          <p:cNvSpPr txBox="1"/>
          <p:nvPr/>
        </p:nvSpPr>
        <p:spPr>
          <a:xfrm>
            <a:off x="-926118" y="1535845"/>
            <a:ext cx="11070336" cy="461665"/>
          </a:xfrm>
          <a:prstGeom prst="rect">
            <a:avLst/>
          </a:prstGeom>
          <a:noFill/>
        </p:spPr>
        <p:txBody>
          <a:bodyPr wrap="square">
            <a:spAutoFit/>
          </a:bodyPr>
          <a:lstStyle/>
          <a:p>
            <a:pPr lvl="0" algn="ctr">
              <a:buSzPct val="25000"/>
            </a:pPr>
            <a:r>
              <a:rPr lang="en-US" sz="2400" b="1" dirty="0">
                <a:solidFill>
                  <a:srgbClr val="C00000"/>
                </a:solidFill>
                <a:latin typeface="Times New Roman" panose="02020603050405020304" pitchFamily="18" charset="0"/>
                <a:ea typeface="Verdana" panose="020B0604030504040204" pitchFamily="34" charset="0"/>
                <a:cs typeface="Verdana" panose="020B0604030504040204" pitchFamily="34" charset="0"/>
              </a:rPr>
              <a:t>Unified University Management &amp; Student Support Platform</a:t>
            </a:r>
            <a:endParaRPr lang="en-IN" sz="24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a:t>
            </a:r>
            <a:r>
              <a:rPr lang="en-IN" b="1" dirty="0">
                <a:solidFill>
                  <a:srgbClr val="0070C0"/>
                </a:solidFill>
                <a:ea typeface="Cambria" panose="02040503050406030204" pitchFamily="18" charset="0"/>
                <a:cs typeface="Times New Roman" panose="02020603050405020304" pitchFamily="18" charset="0"/>
                <a:sym typeface="Arial"/>
              </a:rPr>
              <a:t>Ms</a:t>
            </a:r>
            <a:r>
              <a:rPr lang="en-IN" sz="1800" b="1" dirty="0">
                <a:solidFill>
                  <a:srgbClr val="0070C0"/>
                </a:solidFill>
                <a:ea typeface="Cambria" panose="02040503050406030204" pitchFamily="18" charset="0"/>
                <a:cs typeface="Times New Roman" panose="02020603050405020304" pitchFamily="18" charset="0"/>
                <a:sym typeface="Arial"/>
              </a:rPr>
              <a:t>. </a:t>
            </a:r>
            <a:r>
              <a:rPr lang="en-IN" sz="1800" b="1" dirty="0" err="1">
                <a:solidFill>
                  <a:srgbClr val="0070C0"/>
                </a:solidFill>
                <a:ea typeface="Cambria" panose="02040503050406030204" pitchFamily="18" charset="0"/>
                <a:cs typeface="Times New Roman" panose="02020603050405020304" pitchFamily="18" charset="0"/>
                <a:sym typeface="Arial"/>
              </a:rPr>
              <a:t>Iflah</a:t>
            </a:r>
            <a:r>
              <a:rPr lang="en-IN" sz="1800" b="1" dirty="0">
                <a:solidFill>
                  <a:srgbClr val="0070C0"/>
                </a:solidFill>
                <a:ea typeface="Cambria" panose="02040503050406030204" pitchFamily="18" charset="0"/>
                <a:cs typeface="Times New Roman" panose="02020603050405020304" pitchFamily="18" charset="0"/>
                <a:sym typeface="Arial"/>
              </a:rPr>
              <a:t> Aijaz</a:t>
            </a:r>
          </a:p>
        </p:txBody>
      </p:sp>
      <p:graphicFrame>
        <p:nvGraphicFramePr>
          <p:cNvPr id="3" name="Table 2">
            <a:extLst>
              <a:ext uri="{FF2B5EF4-FFF2-40B4-BE49-F238E27FC236}">
                <a16:creationId xmlns:a16="http://schemas.microsoft.com/office/drawing/2014/main" id="{4C3B354C-CD82-4F55-B0D4-9A2514CF9119}"/>
              </a:ext>
            </a:extLst>
          </p:cNvPr>
          <p:cNvGraphicFramePr>
            <a:graphicFrameLocks noGrp="1"/>
          </p:cNvGraphicFramePr>
          <p:nvPr>
            <p:extLst>
              <p:ext uri="{D42A27DB-BD31-4B8C-83A1-F6EECF244321}">
                <p14:modId xmlns:p14="http://schemas.microsoft.com/office/powerpoint/2010/main" val="2671600544"/>
              </p:ext>
            </p:extLst>
          </p:nvPr>
        </p:nvGraphicFramePr>
        <p:xfrm>
          <a:off x="1926336" y="3125436"/>
          <a:ext cx="5657088" cy="2194560"/>
        </p:xfrm>
        <a:graphic>
          <a:graphicData uri="http://schemas.openxmlformats.org/drawingml/2006/table">
            <a:tbl>
              <a:tblPr/>
              <a:tblGrid>
                <a:gridCol w="2828544">
                  <a:extLst>
                    <a:ext uri="{9D8B030D-6E8A-4147-A177-3AD203B41FA5}">
                      <a16:colId xmlns:a16="http://schemas.microsoft.com/office/drawing/2014/main" val="2237735231"/>
                    </a:ext>
                  </a:extLst>
                </a:gridCol>
                <a:gridCol w="2828544">
                  <a:extLst>
                    <a:ext uri="{9D8B030D-6E8A-4147-A177-3AD203B41FA5}">
                      <a16:colId xmlns:a16="http://schemas.microsoft.com/office/drawing/2014/main" val="2744946951"/>
                    </a:ext>
                  </a:extLst>
                </a:gridCol>
              </a:tblGrid>
              <a:tr h="289560">
                <a:tc>
                  <a:txBody>
                    <a:bodyPr/>
                    <a:lstStyle/>
                    <a:p>
                      <a:pPr algn="l" fontAlgn="base"/>
                      <a:r>
                        <a:rPr lang="en-IN" sz="1800" b="1" i="0">
                          <a:solidFill>
                            <a:srgbClr val="FFFFFF"/>
                          </a:solidFill>
                          <a:effectLst/>
                          <a:latin typeface="Calibri" panose="020F0502020204030204" pitchFamily="34" charset="0"/>
                        </a:rPr>
                        <a:t>Roll no.​</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4219" cap="flat" cmpd="sng" algn="ctr">
                      <a:solidFill>
                        <a:srgbClr val="FFFFFF"/>
                      </a:solidFill>
                      <a:prstDash val="solid"/>
                      <a:round/>
                      <a:headEnd type="none" w="med" len="med"/>
                      <a:tailEnd type="none" w="med" len="med"/>
                    </a:lnB>
                    <a:solidFill>
                      <a:srgbClr val="4F81BD"/>
                    </a:solidFill>
                  </a:tcPr>
                </a:tc>
                <a:tc>
                  <a:txBody>
                    <a:bodyPr/>
                    <a:lstStyle/>
                    <a:p>
                      <a:pPr algn="l" fontAlgn="base"/>
                      <a:r>
                        <a:rPr lang="en-IN" sz="1800" b="1" i="0">
                          <a:solidFill>
                            <a:srgbClr val="FFFFFF"/>
                          </a:solidFill>
                          <a:effectLst/>
                          <a:latin typeface="Calibri" panose="020F0502020204030204" pitchFamily="34" charset="0"/>
                        </a:rPr>
                        <a:t>Name ​</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4219"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3444869093"/>
                  </a:ext>
                </a:extLst>
              </a:tr>
              <a:tr h="289560">
                <a:tc>
                  <a:txBody>
                    <a:bodyPr/>
                    <a:lstStyle/>
                    <a:p>
                      <a:pPr algn="l" fontAlgn="base"/>
                      <a:r>
                        <a:rPr lang="en-IN" sz="1800" b="0" i="0">
                          <a:solidFill>
                            <a:srgbClr val="000000"/>
                          </a:solidFill>
                          <a:effectLst/>
                          <a:latin typeface="Calibri" panose="020F0502020204030204" pitchFamily="34" charset="0"/>
                        </a:rPr>
                        <a:t>2301010289​</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14219"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tc>
                  <a:txBody>
                    <a:bodyPr/>
                    <a:lstStyle/>
                    <a:p>
                      <a:pPr algn="l" fontAlgn="base"/>
                      <a:r>
                        <a:rPr lang="en-IN" sz="1800" b="0" i="0">
                          <a:solidFill>
                            <a:srgbClr val="000000"/>
                          </a:solidFill>
                          <a:effectLst/>
                          <a:latin typeface="Calibri" panose="020F0502020204030204" pitchFamily="34" charset="0"/>
                        </a:rPr>
                        <a:t>Vaibhav Vaid​</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14219"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095928720"/>
                  </a:ext>
                </a:extLst>
              </a:tr>
              <a:tr h="289560">
                <a:tc>
                  <a:txBody>
                    <a:bodyPr/>
                    <a:lstStyle/>
                    <a:p>
                      <a:pPr algn="l" fontAlgn="base"/>
                      <a:r>
                        <a:rPr lang="en-IN" sz="1800" b="0" i="0">
                          <a:solidFill>
                            <a:srgbClr val="000000"/>
                          </a:solidFill>
                          <a:effectLst/>
                          <a:latin typeface="Calibri" panose="020F0502020204030204" pitchFamily="34" charset="0"/>
                        </a:rPr>
                        <a:t>2301010282​</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DF4"/>
                    </a:solidFill>
                  </a:tcPr>
                </a:tc>
                <a:tc>
                  <a:txBody>
                    <a:bodyPr/>
                    <a:lstStyle/>
                    <a:p>
                      <a:pPr algn="l" fontAlgn="base"/>
                      <a:r>
                        <a:rPr lang="en-IN" sz="1800" b="0" i="0">
                          <a:solidFill>
                            <a:srgbClr val="000000"/>
                          </a:solidFill>
                          <a:effectLst/>
                          <a:latin typeface="Calibri" panose="020F0502020204030204" pitchFamily="34" charset="0"/>
                        </a:rPr>
                        <a:t>Adeela Azeez​</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837483785"/>
                  </a:ext>
                </a:extLst>
              </a:tr>
              <a:tr h="289560">
                <a:tc>
                  <a:txBody>
                    <a:bodyPr/>
                    <a:lstStyle/>
                    <a:p>
                      <a:pPr algn="l" fontAlgn="base"/>
                      <a:r>
                        <a:rPr lang="en-IN" sz="1800" b="0" i="0">
                          <a:solidFill>
                            <a:srgbClr val="000000"/>
                          </a:solidFill>
                          <a:effectLst/>
                          <a:latin typeface="Calibri" panose="020F0502020204030204" pitchFamily="34" charset="0"/>
                        </a:rPr>
                        <a:t>2301010300​</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tc>
                  <a:txBody>
                    <a:bodyPr/>
                    <a:lstStyle/>
                    <a:p>
                      <a:pPr algn="l" fontAlgn="base"/>
                      <a:r>
                        <a:rPr lang="en-IN" sz="1800" b="0" i="0">
                          <a:solidFill>
                            <a:srgbClr val="000000"/>
                          </a:solidFill>
                          <a:effectLst/>
                          <a:latin typeface="Calibri" panose="020F0502020204030204" pitchFamily="34" charset="0"/>
                        </a:rPr>
                        <a:t>Himani Tyagi​</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097415037"/>
                  </a:ext>
                </a:extLst>
              </a:tr>
              <a:tr h="289560">
                <a:tc>
                  <a:txBody>
                    <a:bodyPr/>
                    <a:lstStyle/>
                    <a:p>
                      <a:pPr algn="l" fontAlgn="base"/>
                      <a:r>
                        <a:rPr lang="en-IN" sz="1800" b="0" i="0">
                          <a:solidFill>
                            <a:srgbClr val="000000"/>
                          </a:solidFill>
                          <a:effectLst/>
                          <a:latin typeface="Calibri" panose="020F0502020204030204" pitchFamily="34" charset="0"/>
                        </a:rPr>
                        <a:t>2301010293​</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DF4"/>
                    </a:solidFill>
                  </a:tcPr>
                </a:tc>
                <a:tc>
                  <a:txBody>
                    <a:bodyPr/>
                    <a:lstStyle/>
                    <a:p>
                      <a:pPr algn="l" fontAlgn="base"/>
                      <a:r>
                        <a:rPr lang="en-IN" sz="1800" b="0" i="0">
                          <a:solidFill>
                            <a:srgbClr val="000000"/>
                          </a:solidFill>
                          <a:effectLst/>
                          <a:latin typeface="Calibri" panose="020F0502020204030204" pitchFamily="34" charset="0"/>
                        </a:rPr>
                        <a:t>Ashutosh Singh​</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4197548179"/>
                  </a:ext>
                </a:extLst>
              </a:tr>
              <a:tr h="289560">
                <a:tc>
                  <a:txBody>
                    <a:bodyPr/>
                    <a:lstStyle/>
                    <a:p>
                      <a:pPr algn="l" fontAlgn="base"/>
                      <a:r>
                        <a:rPr lang="en-IN" sz="1800" b="0" i="0">
                          <a:solidFill>
                            <a:srgbClr val="000000"/>
                          </a:solidFill>
                          <a:effectLst/>
                          <a:latin typeface="Calibri" panose="020F0502020204030204" pitchFamily="34" charset="0"/>
                        </a:rPr>
                        <a:t>2301010298​</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tc>
                  <a:txBody>
                    <a:bodyPr/>
                    <a:lstStyle/>
                    <a:p>
                      <a:pPr algn="l" fontAlgn="base"/>
                      <a:r>
                        <a:rPr lang="en-IN" sz="1800" b="0" i="0" dirty="0" err="1">
                          <a:solidFill>
                            <a:srgbClr val="000000"/>
                          </a:solidFill>
                          <a:effectLst/>
                          <a:latin typeface="Calibri" panose="020F0502020204030204" pitchFamily="34" charset="0"/>
                        </a:rPr>
                        <a:t>Satdev</a:t>
                      </a:r>
                      <a:r>
                        <a:rPr lang="en-IN" sz="1800" b="0" i="0" dirty="0">
                          <a:solidFill>
                            <a:srgbClr val="000000"/>
                          </a:solidFill>
                          <a:effectLst/>
                          <a:latin typeface="Calibri" panose="020F0502020204030204" pitchFamily="34" charset="0"/>
                        </a:rPr>
                        <a:t>​</a:t>
                      </a:r>
                      <a:endParaRPr lang="en-IN" b="0" i="0" dirty="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562713155"/>
                  </a:ext>
                </a:extLst>
              </a:tr>
            </a:tbl>
          </a:graphicData>
        </a:graphic>
      </p:graphicFrame>
      <p:sp>
        <p:nvSpPr>
          <p:cNvPr id="4" name="Rectangle 1">
            <a:extLst>
              <a:ext uri="{FF2B5EF4-FFF2-40B4-BE49-F238E27FC236}">
                <a16:creationId xmlns:a16="http://schemas.microsoft.com/office/drawing/2014/main" id="{F115764B-8051-400F-B987-8ED6DA9CF548}"/>
              </a:ext>
            </a:extLst>
          </p:cNvPr>
          <p:cNvSpPr>
            <a:spLocks noChangeArrowheads="1"/>
          </p:cNvSpPr>
          <p:nvPr/>
        </p:nvSpPr>
        <p:spPr bwMode="auto">
          <a:xfrm>
            <a:off x="2133600" y="2765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Yu Gothic" panose="020B0400000000000000" pitchFamily="34" charset="-128"/>
                <a:ea typeface="Yu Gothic" panose="020B0400000000000000" pitchFamily="34" charset="-128"/>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FE74B538-1E15-4823-A3B0-C3CFB3458DC7}"/>
              </a:ext>
            </a:extLst>
          </p:cNvPr>
          <p:cNvSpPr/>
          <p:nvPr/>
        </p:nvSpPr>
        <p:spPr>
          <a:xfrm>
            <a:off x="4453217" y="3244334"/>
            <a:ext cx="237566" cy="369332"/>
          </a:xfrm>
          <a:prstGeom prst="rect">
            <a:avLst/>
          </a:prstGeom>
        </p:spPr>
        <p:txBody>
          <a:bodyPr wrap="none">
            <a:spAutoFit/>
          </a:bodyPr>
          <a:lstStyle/>
          <a:p>
            <a:r>
              <a:rPr lang="en-IN" dirty="0"/>
              <a:t> </a:t>
            </a:r>
          </a:p>
        </p:txBody>
      </p:sp>
      <p:sp>
        <p:nvSpPr>
          <p:cNvPr id="4" name="Rectangle 3">
            <a:extLst>
              <a:ext uri="{FF2B5EF4-FFF2-40B4-BE49-F238E27FC236}">
                <a16:creationId xmlns:a16="http://schemas.microsoft.com/office/drawing/2014/main" id="{AF92F216-2A54-4415-8B4E-9EAF14672067}"/>
              </a:ext>
            </a:extLst>
          </p:cNvPr>
          <p:cNvSpPr/>
          <p:nvPr/>
        </p:nvSpPr>
        <p:spPr>
          <a:xfrm>
            <a:off x="682751" y="1536135"/>
            <a:ext cx="8320865" cy="6463308"/>
          </a:xfrm>
          <a:prstGeom prst="rect">
            <a:avLst/>
          </a:prstGeom>
        </p:spPr>
        <p:txBody>
          <a:bodyPr wrap="square">
            <a:spAutoFit/>
          </a:bodyPr>
          <a:lstStyle/>
          <a:p>
            <a:r>
              <a:rPr lang="en-US" dirty="0">
                <a:solidFill>
                  <a:srgbClr val="000000"/>
                </a:solidFill>
                <a:latin typeface="Yu Gothic" panose="020B0400000000000000" pitchFamily="34" charset="-128"/>
                <a:ea typeface="Yu Gothic" panose="020B0400000000000000" pitchFamily="34" charset="-128"/>
              </a:rPr>
              <a:t>Universities usually manage academics, student support, and administrative work using</a:t>
            </a:r>
          </a:p>
          <a:p>
            <a:r>
              <a:rPr lang="en-US" dirty="0">
                <a:solidFill>
                  <a:srgbClr val="000000"/>
                </a:solidFill>
                <a:latin typeface="Yu Gothic" panose="020B0400000000000000" pitchFamily="34" charset="-128"/>
                <a:ea typeface="Yu Gothic" panose="020B0400000000000000" pitchFamily="34" charset="-128"/>
              </a:rPr>
              <a:t>different systems or manual methods. Students often need to check notice boards,</a:t>
            </a:r>
          </a:p>
          <a:p>
            <a:r>
              <a:rPr lang="en-US" dirty="0">
                <a:solidFill>
                  <a:srgbClr val="000000"/>
                </a:solidFill>
                <a:latin typeface="Yu Gothic" panose="020B0400000000000000" pitchFamily="34" charset="-128"/>
                <a:ea typeface="Yu Gothic" panose="020B0400000000000000" pitchFamily="34" charset="-128"/>
              </a:rPr>
              <a:t>emails, or visit offices personally to get information about attendance, exams, results, or</a:t>
            </a:r>
          </a:p>
          <a:p>
            <a:r>
              <a:rPr lang="en-US" dirty="0">
                <a:solidFill>
                  <a:srgbClr val="000000"/>
                </a:solidFill>
                <a:latin typeface="Yu Gothic" panose="020B0400000000000000" pitchFamily="34" charset="-128"/>
                <a:ea typeface="Yu Gothic" panose="020B0400000000000000" pitchFamily="34" charset="-128"/>
              </a:rPr>
              <a:t>grievances. This makes the process slow and confusing for both students and staff.​</a:t>
            </a:r>
          </a:p>
          <a:p>
            <a:endParaRPr lang="en-US" dirty="0">
              <a:solidFill>
                <a:srgbClr val="000000"/>
              </a:solidFill>
              <a:latin typeface="Yu Gothic" panose="020B0400000000000000" pitchFamily="34" charset="-128"/>
              <a:ea typeface="Yu Gothic" panose="020B0400000000000000" pitchFamily="34" charset="-128"/>
            </a:endParaRPr>
          </a:p>
          <a:p>
            <a:r>
              <a:rPr lang="en-US" dirty="0">
                <a:solidFill>
                  <a:srgbClr val="000000"/>
                </a:solidFill>
                <a:latin typeface="Yu Gothic" panose="020B0400000000000000" pitchFamily="34" charset="-128"/>
                <a:ea typeface="Yu Gothic" panose="020B0400000000000000" pitchFamily="34" charset="-128"/>
              </a:rPr>
              <a:t>The Unified University Management &amp; Student Support Platform is developed to solve</a:t>
            </a:r>
          </a:p>
          <a:p>
            <a:r>
              <a:rPr lang="en-US" dirty="0">
                <a:solidFill>
                  <a:srgbClr val="000000"/>
                </a:solidFill>
                <a:latin typeface="Yu Gothic" panose="020B0400000000000000" pitchFamily="34" charset="-128"/>
                <a:ea typeface="Yu Gothic" panose="020B0400000000000000" pitchFamily="34" charset="-128"/>
              </a:rPr>
              <a:t>this problem by providing a single web-based system for all university-related activities. It</a:t>
            </a:r>
          </a:p>
          <a:p>
            <a:r>
              <a:rPr lang="en-US" dirty="0">
                <a:solidFill>
                  <a:srgbClr val="000000"/>
                </a:solidFill>
                <a:latin typeface="Yu Gothic" panose="020B0400000000000000" pitchFamily="34" charset="-128"/>
                <a:ea typeface="Yu Gothic" panose="020B0400000000000000" pitchFamily="34" charset="-128"/>
              </a:rPr>
              <a:t>brings students, faculty, and administrators onto one platform where academic</a:t>
            </a:r>
          </a:p>
          <a:p>
            <a:r>
              <a:rPr lang="en-US" dirty="0">
                <a:solidFill>
                  <a:srgbClr val="000000"/>
                </a:solidFill>
                <a:latin typeface="Yu Gothic" panose="020B0400000000000000" pitchFamily="34" charset="-128"/>
                <a:ea typeface="Yu Gothic" panose="020B0400000000000000" pitchFamily="34" charset="-128"/>
              </a:rPr>
              <a:t>information, requests, and communication can be managed easily.​</a:t>
            </a:r>
          </a:p>
          <a:p>
            <a:endParaRPr lang="en-US" dirty="0">
              <a:solidFill>
                <a:srgbClr val="000000"/>
              </a:solidFill>
              <a:latin typeface="Yu Gothic" panose="020B0400000000000000" pitchFamily="34" charset="-128"/>
              <a:ea typeface="Yu Gothic" panose="020B0400000000000000" pitchFamily="34" charset="-128"/>
            </a:endParaRPr>
          </a:p>
          <a:p>
            <a:r>
              <a:rPr lang="en-US" dirty="0">
                <a:solidFill>
                  <a:srgbClr val="000000"/>
                </a:solidFill>
                <a:latin typeface="Yu Gothic" panose="020B0400000000000000" pitchFamily="34" charset="-128"/>
                <a:ea typeface="Yu Gothic" panose="020B0400000000000000" pitchFamily="34" charset="-128"/>
              </a:rPr>
              <a:t>The system reduces manual work, improves transparency, and ensures faster</a:t>
            </a:r>
          </a:p>
          <a:p>
            <a:r>
              <a:rPr lang="en-US" dirty="0">
                <a:solidFill>
                  <a:srgbClr val="000000"/>
                </a:solidFill>
                <a:latin typeface="Yu Gothic" panose="020B0400000000000000" pitchFamily="34" charset="-128"/>
                <a:ea typeface="Yu Gothic" panose="020B0400000000000000" pitchFamily="34" charset="-128"/>
              </a:rPr>
              <a:t>communication. By using role-based access, each user gets only the features relevant to</a:t>
            </a:r>
          </a:p>
          <a:p>
            <a:r>
              <a:rPr lang="en-US" dirty="0">
                <a:solidFill>
                  <a:srgbClr val="000000"/>
                </a:solidFill>
                <a:latin typeface="Yu Gothic" panose="020B0400000000000000" pitchFamily="34" charset="-128"/>
                <a:ea typeface="Yu Gothic" panose="020B0400000000000000" pitchFamily="34" charset="-128"/>
              </a:rPr>
              <a:t>them, making the platform simple, secure, and efficient for daily university operations.​</a:t>
            </a:r>
            <a:endParaRPr lang="en-IN"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72008" y="139316"/>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a:solidFill>
                  <a:prstClr val="black"/>
                </a:solidFill>
                <a:latin typeface="Calibri"/>
                <a:ea typeface="+mj-ea"/>
                <a:cs typeface="+mj-cs"/>
                <a:sym typeface="Arial"/>
              </a:rPr>
              <a:t>A</a:t>
            </a:r>
            <a:r>
              <a:rPr lang="en-IN" sz="4400">
                <a:solidFill>
                  <a:prstClr val="black"/>
                </a:solidFill>
                <a:latin typeface="Calibri"/>
                <a:ea typeface="+mj-ea"/>
                <a:cs typeface="+mj-cs"/>
                <a:sym typeface="Arial"/>
              </a:rPr>
              <a:t>bout the Problem</a:t>
            </a:r>
            <a:endParaRPr lang="en-IN" sz="3200" b="1">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A3DEF35-11EC-5059-39F1-AC5BCC365022}"/>
              </a:ext>
            </a:extLst>
          </p:cNvPr>
          <p:cNvSpPr txBox="1"/>
          <p:nvPr/>
        </p:nvSpPr>
        <p:spPr>
          <a:xfrm>
            <a:off x="179512" y="1275258"/>
            <a:ext cx="8676456"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Despite being vital to overall wellbeing, mental health is frequently disregarded because of hectic schedules, a lack of knowledge, or the shame associated with emotional difficulties. Mood monitoring has become a popular tool for tracking feelings, spotting trends, and enhancing mental health. A computer tool called a mood tracking system is intended to assist people in recording their feelings, identifying patterns, and gaining important knowledge about their mental health.</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purpose of this project is to empower individuals to take control of their emotional well-being by providing an intuitive, data-driven, and user-friendly platform for mood tracking and journaling. By recognizing emotional patterns and triggers, users can make informed decisions to improve their mental health, reduce stress, and enhance their overall quality of life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60055" y="291010"/>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12D7EC8-BFDC-C4B6-F5D1-9906B7D02893}"/>
              </a:ext>
            </a:extLst>
          </p:cNvPr>
          <p:cNvSpPr txBox="1"/>
          <p:nvPr/>
        </p:nvSpPr>
        <p:spPr>
          <a:xfrm>
            <a:off x="72008" y="1293834"/>
            <a:ext cx="8963299" cy="4893647"/>
          </a:xfrm>
          <a:prstGeom prst="rect">
            <a:avLst/>
          </a:prstGeom>
          <a:noFill/>
        </p:spPr>
        <p:txBody>
          <a:bodyPr wrap="square" lIns="91440" tIns="45720" rIns="91440" bIns="45720" anchor="t">
            <a:spAutoFit/>
          </a:bodyPr>
          <a:lstStyle/>
          <a:p>
            <a:pPr marL="457200" indent="-457200">
              <a:buFont typeface="Arial" panose="020B0604020202020204" pitchFamily="34" charset="0"/>
              <a:buChar char="•"/>
            </a:pPr>
            <a:r>
              <a:rPr lang="en-IN" sz="3200" dirty="0">
                <a:latin typeface="Times New Roman" panose="02020603050405020304" pitchFamily="18" charset="0"/>
                <a:ea typeface="+mn-lt"/>
                <a:cs typeface="Times New Roman" panose="02020603050405020304" pitchFamily="18" charset="0"/>
              </a:rPr>
              <a:t>I</a:t>
            </a:r>
            <a:r>
              <a:rPr lang="en-IN" sz="2800" dirty="0">
                <a:latin typeface="Times New Roman" panose="02020603050405020304" pitchFamily="18" charset="0"/>
                <a:ea typeface="+mn-lt"/>
                <a:cs typeface="Times New Roman" panose="02020603050405020304" pitchFamily="18" charset="0"/>
              </a:rPr>
              <a:t>n today’s fast-paced world, mental health and emotional well-being are frequently neglected which increases stress, anxiety, and depression. Peoples find it difficult to identify patterns in their moods and emotions, which makes it challenging to manage stress, determine triggers, and seek timely interventions.</a:t>
            </a:r>
            <a:endParaRPr lang="en-IN" sz="2800" dirty="0">
              <a:latin typeface="Times New Roman" panose="02020603050405020304" pitchFamily="18" charset="0"/>
              <a:ea typeface="Calibri"/>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ea typeface="+mn-lt"/>
                <a:cs typeface="Times New Roman" panose="02020603050405020304" pitchFamily="18" charset="0"/>
              </a:rPr>
              <a:t>A mood tracker and journaling website can help in tracking the effectiveness of interventions, whether they're lifestyle changes, therapy, or medication. It provides a way to see if certain activities or treatments positively impact your mood over time.</a:t>
            </a:r>
            <a:endParaRPr lang="en-IN" sz="28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04732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9DC1A167-6CDE-4D46-8DD5-EF77FDFE57CA}"/>
              </a:ext>
            </a:extLst>
          </p:cNvPr>
          <p:cNvSpPr/>
          <p:nvPr/>
        </p:nvSpPr>
        <p:spPr>
          <a:xfrm>
            <a:off x="329937" y="1293834"/>
            <a:ext cx="8097627" cy="4074449"/>
          </a:xfrm>
          <a:prstGeom prst="rect">
            <a:avLst/>
          </a:prstGeom>
        </p:spPr>
        <p:txBody>
          <a:bodyPr wrap="square">
            <a:spAutoFit/>
          </a:bodyPr>
          <a:lstStyle/>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design and develop a scalable mood tracking website </a:t>
            </a:r>
          </a:p>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integrate AI-driven analytics and data visualization </a:t>
            </a:r>
          </a:p>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implement an intuitive and user-friendly interface</a:t>
            </a:r>
          </a:p>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enhance user engagement through interactive elements</a:t>
            </a:r>
          </a:p>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ensure data privacy and security </a:t>
            </a:r>
          </a:p>
          <a:p>
            <a:pPr marL="342900" lvl="0" indent="-342900">
              <a:lnSpc>
                <a:spcPct val="150000"/>
              </a:lnSpc>
              <a:spcBef>
                <a:spcPts val="1200"/>
              </a:spcBef>
              <a:spcAft>
                <a:spcPts val="12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rPr>
              <a:t>To conduct extensive testing and gather user feedback.</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5742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85731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3200" b="1">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2" name="Rectangle 3">
            <a:extLst>
              <a:ext uri="{FF2B5EF4-FFF2-40B4-BE49-F238E27FC236}">
                <a16:creationId xmlns:a16="http://schemas.microsoft.com/office/drawing/2014/main" id="{A506EBA6-D7DF-40C0-81B4-DF4C7B6321AE}"/>
              </a:ext>
            </a:extLst>
          </p:cNvPr>
          <p:cNvSpPr>
            <a:spLocks noChangeArrowheads="1"/>
          </p:cNvSpPr>
          <p:nvPr/>
        </p:nvSpPr>
        <p:spPr bwMode="auto">
          <a:xfrm>
            <a:off x="285409" y="1122471"/>
            <a:ext cx="8573181"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Analysis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Identify project goals, features, and user needs.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Define technology stack, architecture, and development roadmap.</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UI/UX Design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Create wireframes and prototypes using Figma.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Development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Develop the user interface with React.js or Vue.js.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Development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Build the server-side logic using Node.js/Django/Flask.</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Setup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Configure PostgreSQL or MongoDB for data storage.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Implement chatbot functionality with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OpenAI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or Rasa.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Implementation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Integrate OAuth, SSL, and GDPR compliance.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&amp; Debugging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Conduct unit, integration, and security testing.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Host on AWS, Firebase, or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Vercel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Maintenance &amp; Updates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Monitor performance, fix bugs, and release updates. </a:t>
            </a:r>
          </a:p>
        </p:txBody>
      </p:sp>
    </p:spTree>
    <p:extLst>
      <p:ext uri="{BB962C8B-B14F-4D97-AF65-F5344CB8AC3E}">
        <p14:creationId xmlns:p14="http://schemas.microsoft.com/office/powerpoint/2010/main" val="329581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a:solidFill>
                <a:srgbClr val="E31E24"/>
              </a:solidFill>
              <a:cs typeface="Times New Roman" panose="02020603050405020304" pitchFamily="18" charset="0"/>
              <a:sym typeface="Arial"/>
            </a:endParaRPr>
          </a:p>
        </p:txBody>
      </p:sp>
      <p:cxnSp>
        <p:nvCxnSpPr>
          <p:cNvPr id="7" name="Straight Connector 6"/>
          <p:cNvCxnSpPr>
            <a:cxnSpLocks/>
          </p:cNvCxnSpPr>
          <p:nvPr/>
        </p:nvCxnSpPr>
        <p:spPr>
          <a:xfrm>
            <a:off x="0" y="1061448"/>
            <a:ext cx="9144000"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6" name="Picture 5">
            <a:extLst>
              <a:ext uri="{FF2B5EF4-FFF2-40B4-BE49-F238E27FC236}">
                <a16:creationId xmlns:a16="http://schemas.microsoft.com/office/drawing/2014/main" id="{EEF10AC0-A0BA-4925-BD4D-063BE193DA36}"/>
              </a:ext>
            </a:extLst>
          </p:cNvPr>
          <p:cNvPicPr/>
          <p:nvPr/>
        </p:nvPicPr>
        <p:blipFill rotWithShape="1">
          <a:blip r:embed="rId4"/>
          <a:srcRect l="2245" t="22650" r="1998" b="24655"/>
          <a:stretch/>
        </p:blipFill>
        <p:spPr>
          <a:xfrm>
            <a:off x="266960" y="1191501"/>
            <a:ext cx="8610079" cy="4987790"/>
          </a:xfrm>
          <a:prstGeom prst="rect">
            <a:avLst/>
          </a:prstGeom>
          <a:ln>
            <a:solidFill>
              <a:schemeClr val="tx1"/>
            </a:solidFill>
          </a:ln>
        </p:spPr>
      </p:pic>
    </p:spTree>
    <p:extLst>
      <p:ext uri="{BB962C8B-B14F-4D97-AF65-F5344CB8AC3E}">
        <p14:creationId xmlns:p14="http://schemas.microsoft.com/office/powerpoint/2010/main" val="343334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841B-74CA-DD08-DC57-2744796991CE}"/>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C8ECEBC8-6DCD-2500-2951-CF7967A47215}"/>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B126F11-6A87-E75F-D5F6-D578C1CC7C2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06947D3-B53B-9D95-1C04-7E3AA0B640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5C40F21-AABC-DFB9-90B1-AD1CF565BB7B}"/>
              </a:ext>
            </a:extLst>
          </p:cNvPr>
          <p:cNvSpPr txBox="1"/>
          <p:nvPr/>
        </p:nvSpPr>
        <p:spPr>
          <a:xfrm>
            <a:off x="179512" y="1266970"/>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grpSp>
        <p:nvGrpSpPr>
          <p:cNvPr id="12" name="Group 11">
            <a:extLst>
              <a:ext uri="{FF2B5EF4-FFF2-40B4-BE49-F238E27FC236}">
                <a16:creationId xmlns:a16="http://schemas.microsoft.com/office/drawing/2014/main" id="{438E34B9-283A-40D9-A03E-B4B1562D7B8B}"/>
              </a:ext>
            </a:extLst>
          </p:cNvPr>
          <p:cNvGrpSpPr/>
          <p:nvPr/>
        </p:nvGrpSpPr>
        <p:grpSpPr>
          <a:xfrm>
            <a:off x="177133" y="1584196"/>
            <a:ext cx="2592959" cy="378284"/>
            <a:chOff x="216849" y="77375"/>
            <a:chExt cx="2266889" cy="378284"/>
          </a:xfrm>
          <a:scene3d>
            <a:camera prst="orthographicFront"/>
            <a:lightRig rig="flat" dir="t"/>
          </a:scene3d>
        </p:grpSpPr>
        <p:sp>
          <p:nvSpPr>
            <p:cNvPr id="13" name="Arrow: Chevron 12">
              <a:extLst>
                <a:ext uri="{FF2B5EF4-FFF2-40B4-BE49-F238E27FC236}">
                  <a16:creationId xmlns:a16="http://schemas.microsoft.com/office/drawing/2014/main" id="{98D55059-F9B4-4F21-AAFB-D926982494D6}"/>
                </a:ext>
              </a:extLst>
            </p:cNvPr>
            <p:cNvSpPr/>
            <p:nvPr/>
          </p:nvSpPr>
          <p:spPr>
            <a:xfrm>
              <a:off x="216849" y="77375"/>
              <a:ext cx="2266889" cy="370917"/>
            </a:xfrm>
            <a:prstGeom prst="chevron">
              <a:avLst/>
            </a:prstGeom>
          </p:spPr>
          <p:style>
            <a:lnRef idx="1">
              <a:schemeClr val="dk1"/>
            </a:lnRef>
            <a:fillRef idx="2">
              <a:schemeClr val="dk1"/>
            </a:fillRef>
            <a:effectRef idx="1">
              <a:schemeClr val="dk1"/>
            </a:effectRef>
            <a:fontRef idx="minor">
              <a:schemeClr val="dk1"/>
            </a:fontRef>
          </p:style>
        </p:sp>
        <p:sp>
          <p:nvSpPr>
            <p:cNvPr id="14" name="Arrow: Chevron 4">
              <a:extLst>
                <a:ext uri="{FF2B5EF4-FFF2-40B4-BE49-F238E27FC236}">
                  <a16:creationId xmlns:a16="http://schemas.microsoft.com/office/drawing/2014/main" id="{E74AFA02-C723-4A3A-B9E4-1CE1DE51A12C}"/>
                </a:ext>
              </a:extLst>
            </p:cNvPr>
            <p:cNvSpPr txBox="1"/>
            <p:nvPr/>
          </p:nvSpPr>
          <p:spPr>
            <a:xfrm>
              <a:off x="419667" y="84742"/>
              <a:ext cx="1881298" cy="370917"/>
            </a:xfrm>
            <a:prstGeom prst="rect">
              <a:avLst/>
            </a:prstGeom>
          </p:spPr>
          <p:style>
            <a:lnRef idx="1">
              <a:schemeClr val="dk1"/>
            </a:lnRef>
            <a:fillRef idx="2">
              <a:schemeClr val="dk1"/>
            </a:fillRef>
            <a:effectRef idx="1">
              <a:schemeClr val="dk1"/>
            </a:effectRef>
            <a:fontRef idx="minor">
              <a:schemeClr val="dk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kern="1200" dirty="0"/>
                <a:t>Requirement Analysis</a:t>
              </a:r>
              <a:endParaRPr lang="en-IN" kern="1200" dirty="0"/>
            </a:p>
          </p:txBody>
        </p:sp>
      </p:grpSp>
      <p:grpSp>
        <p:nvGrpSpPr>
          <p:cNvPr id="15" name="Group 14">
            <a:extLst>
              <a:ext uri="{FF2B5EF4-FFF2-40B4-BE49-F238E27FC236}">
                <a16:creationId xmlns:a16="http://schemas.microsoft.com/office/drawing/2014/main" id="{BE5A1AE3-37AD-4FCA-A729-8D4224D65AC2}"/>
              </a:ext>
            </a:extLst>
          </p:cNvPr>
          <p:cNvGrpSpPr/>
          <p:nvPr/>
        </p:nvGrpSpPr>
        <p:grpSpPr>
          <a:xfrm>
            <a:off x="2819012" y="1591563"/>
            <a:ext cx="2933353" cy="370917"/>
            <a:chOff x="216849" y="77375"/>
            <a:chExt cx="2266889" cy="370917"/>
          </a:xfrm>
          <a:scene3d>
            <a:camera prst="orthographicFront"/>
            <a:lightRig rig="flat" dir="t"/>
          </a:scene3d>
        </p:grpSpPr>
        <p:sp>
          <p:nvSpPr>
            <p:cNvPr id="16" name="Arrow: Chevron 15">
              <a:extLst>
                <a:ext uri="{FF2B5EF4-FFF2-40B4-BE49-F238E27FC236}">
                  <a16:creationId xmlns:a16="http://schemas.microsoft.com/office/drawing/2014/main" id="{26F54105-A1A6-43CC-84AA-3BD93B679920}"/>
                </a:ext>
              </a:extLst>
            </p:cNvPr>
            <p:cNvSpPr/>
            <p:nvPr/>
          </p:nvSpPr>
          <p:spPr>
            <a:xfrm>
              <a:off x="216849" y="77375"/>
              <a:ext cx="2266889" cy="370917"/>
            </a:xfrm>
            <a:prstGeom prst="chevron">
              <a:avLst/>
            </a:prstGeom>
          </p:spPr>
          <p:style>
            <a:lnRef idx="1">
              <a:schemeClr val="accent3"/>
            </a:lnRef>
            <a:fillRef idx="2">
              <a:schemeClr val="accent3"/>
            </a:fillRef>
            <a:effectRef idx="1">
              <a:schemeClr val="accent3"/>
            </a:effectRef>
            <a:fontRef idx="minor">
              <a:schemeClr val="dk1"/>
            </a:fontRef>
          </p:style>
        </p:sp>
        <p:sp>
          <p:nvSpPr>
            <p:cNvPr id="17" name="Arrow: Chevron 4">
              <a:extLst>
                <a:ext uri="{FF2B5EF4-FFF2-40B4-BE49-F238E27FC236}">
                  <a16:creationId xmlns:a16="http://schemas.microsoft.com/office/drawing/2014/main" id="{28AA915E-7D47-4D03-A3DD-C891E90A488B}"/>
                </a:ext>
              </a:extLst>
            </p:cNvPr>
            <p:cNvSpPr txBox="1"/>
            <p:nvPr/>
          </p:nvSpPr>
          <p:spPr>
            <a:xfrm>
              <a:off x="402308" y="77375"/>
              <a:ext cx="1895972" cy="370917"/>
            </a:xfrm>
            <a:prstGeom prst="rect">
              <a:avLst/>
            </a:prstGeom>
          </p:spPr>
          <p:style>
            <a:lnRef idx="1">
              <a:schemeClr val="accent3"/>
            </a:lnRef>
            <a:fillRef idx="2">
              <a:schemeClr val="accent3"/>
            </a:fillRef>
            <a:effectRef idx="1">
              <a:schemeClr val="accent3"/>
            </a:effectRef>
            <a:fontRef idx="minor">
              <a:schemeClr val="dk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dirty="0"/>
                <a:t>Planning and Designing</a:t>
              </a:r>
              <a:endParaRPr lang="en-IN" sz="1900" kern="1200" dirty="0"/>
            </a:p>
          </p:txBody>
        </p:sp>
      </p:grpSp>
      <p:grpSp>
        <p:nvGrpSpPr>
          <p:cNvPr id="18" name="Group 17">
            <a:extLst>
              <a:ext uri="{FF2B5EF4-FFF2-40B4-BE49-F238E27FC236}">
                <a16:creationId xmlns:a16="http://schemas.microsoft.com/office/drawing/2014/main" id="{0826D498-1019-4CCC-BD3F-9D0C64B061C7}"/>
              </a:ext>
            </a:extLst>
          </p:cNvPr>
          <p:cNvGrpSpPr/>
          <p:nvPr/>
        </p:nvGrpSpPr>
        <p:grpSpPr>
          <a:xfrm>
            <a:off x="5878344" y="1603179"/>
            <a:ext cx="3086144" cy="370917"/>
            <a:chOff x="216849" y="77375"/>
            <a:chExt cx="2266889" cy="370917"/>
          </a:xfrm>
          <a:scene3d>
            <a:camera prst="orthographicFront"/>
            <a:lightRig rig="flat" dir="t"/>
          </a:scene3d>
        </p:grpSpPr>
        <p:sp>
          <p:nvSpPr>
            <p:cNvPr id="19" name="Arrow: Chevron 18">
              <a:extLst>
                <a:ext uri="{FF2B5EF4-FFF2-40B4-BE49-F238E27FC236}">
                  <a16:creationId xmlns:a16="http://schemas.microsoft.com/office/drawing/2014/main" id="{DA1423CF-EE01-4C7A-A164-DA188F99B003}"/>
                </a:ext>
              </a:extLst>
            </p:cNvPr>
            <p:cNvSpPr/>
            <p:nvPr/>
          </p:nvSpPr>
          <p:spPr>
            <a:xfrm>
              <a:off x="216849" y="77375"/>
              <a:ext cx="2266889" cy="370917"/>
            </a:xfrm>
            <a:prstGeom prst="chevron">
              <a:avLst/>
            </a:prstGeom>
          </p:spPr>
          <p:style>
            <a:lnRef idx="1">
              <a:schemeClr val="accent2"/>
            </a:lnRef>
            <a:fillRef idx="2">
              <a:schemeClr val="accent2"/>
            </a:fillRef>
            <a:effectRef idx="1">
              <a:schemeClr val="accent2"/>
            </a:effectRef>
            <a:fontRef idx="minor">
              <a:schemeClr val="dk1"/>
            </a:fontRef>
          </p:style>
        </p:sp>
        <p:sp>
          <p:nvSpPr>
            <p:cNvPr id="20" name="Arrow: Chevron 4">
              <a:extLst>
                <a:ext uri="{FF2B5EF4-FFF2-40B4-BE49-F238E27FC236}">
                  <a16:creationId xmlns:a16="http://schemas.microsoft.com/office/drawing/2014/main" id="{BCD214B2-0E25-41E0-B1BF-8E3602786416}"/>
                </a:ext>
              </a:extLst>
            </p:cNvPr>
            <p:cNvSpPr txBox="1"/>
            <p:nvPr/>
          </p:nvSpPr>
          <p:spPr>
            <a:xfrm>
              <a:off x="402308" y="77375"/>
              <a:ext cx="1895972" cy="370917"/>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dirty="0"/>
                <a:t>Frontend Development</a:t>
              </a:r>
              <a:endParaRPr lang="en-IN" sz="1900" kern="1200" dirty="0"/>
            </a:p>
          </p:txBody>
        </p:sp>
      </p:grpSp>
      <p:grpSp>
        <p:nvGrpSpPr>
          <p:cNvPr id="27" name="Group 26">
            <a:extLst>
              <a:ext uri="{FF2B5EF4-FFF2-40B4-BE49-F238E27FC236}">
                <a16:creationId xmlns:a16="http://schemas.microsoft.com/office/drawing/2014/main" id="{85E515FA-5EE8-4581-9921-0B54F012EDC4}"/>
              </a:ext>
            </a:extLst>
          </p:cNvPr>
          <p:cNvGrpSpPr/>
          <p:nvPr/>
        </p:nvGrpSpPr>
        <p:grpSpPr>
          <a:xfrm flipH="1">
            <a:off x="5878343" y="3760681"/>
            <a:ext cx="2833662" cy="333531"/>
            <a:chOff x="216849" y="77374"/>
            <a:chExt cx="2266889" cy="370918"/>
          </a:xfrm>
          <a:scene3d>
            <a:camera prst="orthographicFront"/>
            <a:lightRig rig="flat" dir="t"/>
          </a:scene3d>
        </p:grpSpPr>
        <p:sp>
          <p:nvSpPr>
            <p:cNvPr id="28" name="Arrow: Chevron 27">
              <a:extLst>
                <a:ext uri="{FF2B5EF4-FFF2-40B4-BE49-F238E27FC236}">
                  <a16:creationId xmlns:a16="http://schemas.microsoft.com/office/drawing/2014/main" id="{EE02D225-8704-44DC-9E74-4840FAA303DF}"/>
                </a:ext>
              </a:extLst>
            </p:cNvPr>
            <p:cNvSpPr/>
            <p:nvPr/>
          </p:nvSpPr>
          <p:spPr>
            <a:xfrm>
              <a:off x="216849" y="77375"/>
              <a:ext cx="2266889" cy="370917"/>
            </a:xfrm>
            <a:prstGeom prst="chevron">
              <a:avLst/>
            </a:prstGeom>
          </p:spPr>
          <p:style>
            <a:lnRef idx="1">
              <a:schemeClr val="accent1"/>
            </a:lnRef>
            <a:fillRef idx="2">
              <a:schemeClr val="accent1"/>
            </a:fillRef>
            <a:effectRef idx="1">
              <a:schemeClr val="accent1"/>
            </a:effectRef>
            <a:fontRef idx="minor">
              <a:schemeClr val="dk1"/>
            </a:fontRef>
          </p:style>
        </p:sp>
        <p:sp>
          <p:nvSpPr>
            <p:cNvPr id="29" name="Arrow: Chevron 4">
              <a:extLst>
                <a:ext uri="{FF2B5EF4-FFF2-40B4-BE49-F238E27FC236}">
                  <a16:creationId xmlns:a16="http://schemas.microsoft.com/office/drawing/2014/main" id="{97612F31-9B4B-485C-B37C-45BD8E54913C}"/>
                </a:ext>
              </a:extLst>
            </p:cNvPr>
            <p:cNvSpPr txBox="1"/>
            <p:nvPr/>
          </p:nvSpPr>
          <p:spPr>
            <a:xfrm>
              <a:off x="476305" y="77374"/>
              <a:ext cx="1895972" cy="370917"/>
            </a:xfrm>
            <a:prstGeom prst="rect">
              <a:avLst/>
            </a:prstGeom>
          </p:spPr>
          <p:style>
            <a:lnRef idx="1">
              <a:schemeClr val="accent1"/>
            </a:lnRef>
            <a:fillRef idx="2">
              <a:schemeClr val="accent1"/>
            </a:fillRef>
            <a:effectRef idx="1">
              <a:schemeClr val="accent1"/>
            </a:effectRef>
            <a:fontRef idx="minor">
              <a:schemeClr val="dk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600" dirty="0"/>
                <a:t>Back</a:t>
              </a:r>
              <a:r>
                <a:rPr lang="en-US" sz="1600" kern="1200" dirty="0"/>
                <a:t>end Development</a:t>
              </a:r>
              <a:endParaRPr lang="en-IN" sz="1600" kern="1200" dirty="0"/>
            </a:p>
          </p:txBody>
        </p:sp>
      </p:grpSp>
      <p:sp>
        <p:nvSpPr>
          <p:cNvPr id="31" name="Arrow: Chevron 30">
            <a:extLst>
              <a:ext uri="{FF2B5EF4-FFF2-40B4-BE49-F238E27FC236}">
                <a16:creationId xmlns:a16="http://schemas.microsoft.com/office/drawing/2014/main" id="{37A4EC1B-667C-4BBE-9085-84E2F48F802E}"/>
              </a:ext>
            </a:extLst>
          </p:cNvPr>
          <p:cNvSpPr/>
          <p:nvPr/>
        </p:nvSpPr>
        <p:spPr>
          <a:xfrm flipH="1">
            <a:off x="2728163" y="3754412"/>
            <a:ext cx="3059331" cy="370917"/>
          </a:xfrm>
          <a:prstGeom prst="chevron">
            <a:avLst/>
          </a:prstGeom>
        </p:spPr>
        <p:style>
          <a:lnRef idx="1">
            <a:schemeClr val="accent4"/>
          </a:lnRef>
          <a:fillRef idx="2">
            <a:schemeClr val="accent4"/>
          </a:fillRef>
          <a:effectRef idx="1">
            <a:schemeClr val="accent4"/>
          </a:effectRef>
          <a:fontRef idx="minor">
            <a:schemeClr val="dk1"/>
          </a:fontRef>
        </p:style>
        <p:txBody>
          <a:bodyPr/>
          <a:lstStyle/>
          <a:p>
            <a:r>
              <a:rPr lang="en-US" sz="1600" dirty="0"/>
              <a:t>Database Setup &amp; Integration</a:t>
            </a:r>
            <a:endParaRPr lang="en-IN" sz="1600" dirty="0"/>
          </a:p>
        </p:txBody>
      </p:sp>
      <p:grpSp>
        <p:nvGrpSpPr>
          <p:cNvPr id="33" name="Group 32">
            <a:extLst>
              <a:ext uri="{FF2B5EF4-FFF2-40B4-BE49-F238E27FC236}">
                <a16:creationId xmlns:a16="http://schemas.microsoft.com/office/drawing/2014/main" id="{D891D5CD-C317-4F64-AFF0-A7C6FEE5A470}"/>
              </a:ext>
            </a:extLst>
          </p:cNvPr>
          <p:cNvGrpSpPr/>
          <p:nvPr/>
        </p:nvGrpSpPr>
        <p:grpSpPr>
          <a:xfrm flipH="1">
            <a:off x="36004" y="3763478"/>
            <a:ext cx="2483768" cy="370916"/>
            <a:chOff x="216849" y="77375"/>
            <a:chExt cx="2266889" cy="370917"/>
          </a:xfrm>
          <a:scene3d>
            <a:camera prst="orthographicFront"/>
            <a:lightRig rig="flat" dir="t"/>
          </a:scene3d>
        </p:grpSpPr>
        <p:sp>
          <p:nvSpPr>
            <p:cNvPr id="34" name="Arrow: Chevron 33">
              <a:extLst>
                <a:ext uri="{FF2B5EF4-FFF2-40B4-BE49-F238E27FC236}">
                  <a16:creationId xmlns:a16="http://schemas.microsoft.com/office/drawing/2014/main" id="{F5CF0617-4B48-47A5-8FC7-2F0280EDBED1}"/>
                </a:ext>
              </a:extLst>
            </p:cNvPr>
            <p:cNvSpPr/>
            <p:nvPr/>
          </p:nvSpPr>
          <p:spPr>
            <a:xfrm>
              <a:off x="216849" y="77375"/>
              <a:ext cx="2266889" cy="370917"/>
            </a:xfrm>
            <a:prstGeom prst="chevron">
              <a:avLst/>
            </a:prstGeom>
          </p:spPr>
          <p:style>
            <a:lnRef idx="1">
              <a:schemeClr val="accent6"/>
            </a:lnRef>
            <a:fillRef idx="2">
              <a:schemeClr val="accent6"/>
            </a:fillRef>
            <a:effectRef idx="1">
              <a:schemeClr val="accent6"/>
            </a:effectRef>
            <a:fontRef idx="minor">
              <a:schemeClr val="dk1"/>
            </a:fontRef>
          </p:style>
        </p:sp>
        <p:sp>
          <p:nvSpPr>
            <p:cNvPr id="35" name="Arrow: Chevron 4">
              <a:extLst>
                <a:ext uri="{FF2B5EF4-FFF2-40B4-BE49-F238E27FC236}">
                  <a16:creationId xmlns:a16="http://schemas.microsoft.com/office/drawing/2014/main" id="{1FF9E295-3CBE-400B-A1D3-42C3BF25FDA0}"/>
                </a:ext>
              </a:extLst>
            </p:cNvPr>
            <p:cNvSpPr txBox="1"/>
            <p:nvPr/>
          </p:nvSpPr>
          <p:spPr>
            <a:xfrm>
              <a:off x="402308" y="77375"/>
              <a:ext cx="1895972" cy="370917"/>
            </a:xfrm>
            <a:prstGeom prst="rect">
              <a:avLst/>
            </a:prstGeom>
          </p:spPr>
          <p:style>
            <a:lnRef idx="1">
              <a:schemeClr val="accent6"/>
            </a:lnRef>
            <a:fillRef idx="2">
              <a:schemeClr val="accent6"/>
            </a:fillRef>
            <a:effectRef idx="1">
              <a:schemeClr val="accent6"/>
            </a:effectRef>
            <a:fontRef idx="minor">
              <a:schemeClr val="dk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600" kern="1200" dirty="0"/>
                <a:t>Testing &amp; Validation</a:t>
              </a:r>
              <a:endParaRPr lang="en-IN" sz="1900" kern="1200" dirty="0"/>
            </a:p>
          </p:txBody>
        </p:sp>
      </p:grpSp>
      <p:grpSp>
        <p:nvGrpSpPr>
          <p:cNvPr id="52" name="Group 51">
            <a:extLst>
              <a:ext uri="{FF2B5EF4-FFF2-40B4-BE49-F238E27FC236}">
                <a16:creationId xmlns:a16="http://schemas.microsoft.com/office/drawing/2014/main" id="{B1026AB2-C02B-4994-BE4F-961F0DA993C7}"/>
              </a:ext>
            </a:extLst>
          </p:cNvPr>
          <p:cNvGrpSpPr/>
          <p:nvPr/>
        </p:nvGrpSpPr>
        <p:grpSpPr>
          <a:xfrm>
            <a:off x="2895834" y="5386445"/>
            <a:ext cx="3248255" cy="370917"/>
            <a:chOff x="216849" y="77375"/>
            <a:chExt cx="2266889" cy="370917"/>
          </a:xfrm>
          <a:scene3d>
            <a:camera prst="orthographicFront"/>
            <a:lightRig rig="flat" dir="t"/>
          </a:scene3d>
        </p:grpSpPr>
        <p:sp>
          <p:nvSpPr>
            <p:cNvPr id="53" name="Arrow: Chevron 52">
              <a:extLst>
                <a:ext uri="{FF2B5EF4-FFF2-40B4-BE49-F238E27FC236}">
                  <a16:creationId xmlns:a16="http://schemas.microsoft.com/office/drawing/2014/main" id="{878B9AFB-17EE-4877-BE4E-6A97196A9664}"/>
                </a:ext>
              </a:extLst>
            </p:cNvPr>
            <p:cNvSpPr/>
            <p:nvPr/>
          </p:nvSpPr>
          <p:spPr>
            <a:xfrm>
              <a:off x="216849" y="77375"/>
              <a:ext cx="2266889" cy="370917"/>
            </a:xfrm>
            <a:prstGeom prst="chevron">
              <a:avLst/>
            </a:prstGeom>
          </p:spPr>
          <p:style>
            <a:lnRef idx="0">
              <a:schemeClr val="accent2"/>
            </a:lnRef>
            <a:fillRef idx="3">
              <a:schemeClr val="accent2"/>
            </a:fillRef>
            <a:effectRef idx="3">
              <a:schemeClr val="accent2"/>
            </a:effectRef>
            <a:fontRef idx="minor">
              <a:schemeClr val="lt1"/>
            </a:fontRef>
          </p:style>
        </p:sp>
        <p:sp>
          <p:nvSpPr>
            <p:cNvPr id="54" name="Arrow: Chevron 4">
              <a:extLst>
                <a:ext uri="{FF2B5EF4-FFF2-40B4-BE49-F238E27FC236}">
                  <a16:creationId xmlns:a16="http://schemas.microsoft.com/office/drawing/2014/main" id="{DBD880EA-C764-43BF-B5A5-064496B787C7}"/>
                </a:ext>
              </a:extLst>
            </p:cNvPr>
            <p:cNvSpPr txBox="1"/>
            <p:nvPr/>
          </p:nvSpPr>
          <p:spPr>
            <a:xfrm>
              <a:off x="402308" y="77375"/>
              <a:ext cx="1895972" cy="370917"/>
            </a:xfrm>
            <a:prstGeom prst="rect">
              <a:avLst/>
            </a:prstGeom>
          </p:spPr>
          <p:style>
            <a:lnRef idx="0">
              <a:schemeClr val="accent2"/>
            </a:lnRef>
            <a:fillRef idx="3">
              <a:schemeClr val="accent2"/>
            </a:fillRef>
            <a:effectRef idx="3">
              <a:schemeClr val="accent2"/>
            </a:effectRef>
            <a:fontRef idx="minor">
              <a:schemeClr val="lt1"/>
            </a:fontRef>
          </p:style>
          <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dirty="0"/>
                <a:t>Hosting and Deployment</a:t>
              </a:r>
              <a:endParaRPr lang="en-IN" sz="1900" kern="1200" dirty="0"/>
            </a:p>
          </p:txBody>
        </p:sp>
      </p:grpSp>
      <p:sp>
        <p:nvSpPr>
          <p:cNvPr id="55" name="Rectangle 54">
            <a:extLst>
              <a:ext uri="{FF2B5EF4-FFF2-40B4-BE49-F238E27FC236}">
                <a16:creationId xmlns:a16="http://schemas.microsoft.com/office/drawing/2014/main" id="{BBDB3083-C1F7-496C-ACD8-C1B3967A8050}"/>
              </a:ext>
            </a:extLst>
          </p:cNvPr>
          <p:cNvSpPr/>
          <p:nvPr/>
        </p:nvSpPr>
        <p:spPr>
          <a:xfrm>
            <a:off x="420079" y="2253006"/>
            <a:ext cx="1804647"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1 Feb 2026 to 7 Feb 2026</a:t>
            </a:r>
            <a:endParaRPr lang="en-IN" sz="1200" dirty="0"/>
          </a:p>
        </p:txBody>
      </p:sp>
      <p:sp>
        <p:nvSpPr>
          <p:cNvPr id="56" name="Rectangle 55">
            <a:extLst>
              <a:ext uri="{FF2B5EF4-FFF2-40B4-BE49-F238E27FC236}">
                <a16:creationId xmlns:a16="http://schemas.microsoft.com/office/drawing/2014/main" id="{5B72A0ED-6657-4FB0-B332-F330CF00837B}"/>
              </a:ext>
            </a:extLst>
          </p:cNvPr>
          <p:cNvSpPr/>
          <p:nvPr/>
        </p:nvSpPr>
        <p:spPr>
          <a:xfrm>
            <a:off x="3086202" y="2253006"/>
            <a:ext cx="1804647"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8 Feb 2026 to 14 Feb 2026</a:t>
            </a:r>
            <a:endParaRPr lang="en-IN" sz="1100" dirty="0"/>
          </a:p>
        </p:txBody>
      </p:sp>
      <p:sp>
        <p:nvSpPr>
          <p:cNvPr id="57" name="Rectangle 56">
            <a:extLst>
              <a:ext uri="{FF2B5EF4-FFF2-40B4-BE49-F238E27FC236}">
                <a16:creationId xmlns:a16="http://schemas.microsoft.com/office/drawing/2014/main" id="{6615A043-FE7E-4AD8-A9F3-CAD6D6CE2179}"/>
              </a:ext>
            </a:extLst>
          </p:cNvPr>
          <p:cNvSpPr/>
          <p:nvPr/>
        </p:nvSpPr>
        <p:spPr>
          <a:xfrm>
            <a:off x="6030086" y="2254820"/>
            <a:ext cx="2080245"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15 Feb 2026 to 7 March 2026</a:t>
            </a:r>
            <a:endParaRPr lang="en-IN" sz="1100" dirty="0"/>
          </a:p>
        </p:txBody>
      </p:sp>
      <p:sp>
        <p:nvSpPr>
          <p:cNvPr id="58" name="Rectangle 57">
            <a:extLst>
              <a:ext uri="{FF2B5EF4-FFF2-40B4-BE49-F238E27FC236}">
                <a16:creationId xmlns:a16="http://schemas.microsoft.com/office/drawing/2014/main" id="{A9886041-8A83-4157-8ABA-8C6F216419A1}"/>
              </a:ext>
            </a:extLst>
          </p:cNvPr>
          <p:cNvSpPr/>
          <p:nvPr/>
        </p:nvSpPr>
        <p:spPr>
          <a:xfrm>
            <a:off x="458196" y="4292584"/>
            <a:ext cx="2153029"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1 April 2026 to 15 April 2026</a:t>
            </a:r>
            <a:endParaRPr lang="en-IN" sz="1100" dirty="0"/>
          </a:p>
        </p:txBody>
      </p:sp>
      <p:sp>
        <p:nvSpPr>
          <p:cNvPr id="59" name="Rectangle 58">
            <a:extLst>
              <a:ext uri="{FF2B5EF4-FFF2-40B4-BE49-F238E27FC236}">
                <a16:creationId xmlns:a16="http://schemas.microsoft.com/office/drawing/2014/main" id="{C6C08DB1-55BF-4F4C-91A2-EF4875102100}"/>
              </a:ext>
            </a:extLst>
          </p:cNvPr>
          <p:cNvSpPr/>
          <p:nvPr/>
        </p:nvSpPr>
        <p:spPr>
          <a:xfrm>
            <a:off x="3284947" y="4299165"/>
            <a:ext cx="2080247"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22 March 2026 to 31 March 2026</a:t>
            </a:r>
            <a:endParaRPr lang="en-IN" sz="1050" dirty="0"/>
          </a:p>
        </p:txBody>
      </p:sp>
      <p:sp>
        <p:nvSpPr>
          <p:cNvPr id="60" name="Rectangle 59">
            <a:extLst>
              <a:ext uri="{FF2B5EF4-FFF2-40B4-BE49-F238E27FC236}">
                <a16:creationId xmlns:a16="http://schemas.microsoft.com/office/drawing/2014/main" id="{7C427111-CAC1-4AF9-A932-0FF23A9F83CA}"/>
              </a:ext>
            </a:extLst>
          </p:cNvPr>
          <p:cNvSpPr/>
          <p:nvPr/>
        </p:nvSpPr>
        <p:spPr>
          <a:xfrm>
            <a:off x="6208423" y="4292585"/>
            <a:ext cx="2196564"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8 March 2026 to 21 March 2026</a:t>
            </a:r>
            <a:endParaRPr lang="en-IN" sz="1050" dirty="0"/>
          </a:p>
        </p:txBody>
      </p:sp>
      <p:sp>
        <p:nvSpPr>
          <p:cNvPr id="61" name="Rectangle 60">
            <a:extLst>
              <a:ext uri="{FF2B5EF4-FFF2-40B4-BE49-F238E27FC236}">
                <a16:creationId xmlns:a16="http://schemas.microsoft.com/office/drawing/2014/main" id="{2A9619DF-D98B-4620-BE05-66D0D2D7A6CA}"/>
              </a:ext>
            </a:extLst>
          </p:cNvPr>
          <p:cNvSpPr/>
          <p:nvPr/>
        </p:nvSpPr>
        <p:spPr>
          <a:xfrm>
            <a:off x="3617637" y="5924617"/>
            <a:ext cx="2260707" cy="3466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16 April 2026 to 30 April 2026</a:t>
            </a:r>
            <a:endParaRPr lang="en-IN" sz="1200" dirty="0"/>
          </a:p>
        </p:txBody>
      </p:sp>
      <p:cxnSp>
        <p:nvCxnSpPr>
          <p:cNvPr id="63" name="Straight Arrow Connector 62">
            <a:extLst>
              <a:ext uri="{FF2B5EF4-FFF2-40B4-BE49-F238E27FC236}">
                <a16:creationId xmlns:a16="http://schemas.microsoft.com/office/drawing/2014/main" id="{FEB91E41-3BE7-4027-9FA8-E5AB9C834619}"/>
              </a:ext>
            </a:extLst>
          </p:cNvPr>
          <p:cNvCxnSpPr>
            <a:stCxn id="55" idx="3"/>
            <a:endCxn id="56" idx="1"/>
          </p:cNvCxnSpPr>
          <p:nvPr/>
        </p:nvCxnSpPr>
        <p:spPr>
          <a:xfrm>
            <a:off x="2224726" y="2426352"/>
            <a:ext cx="86147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5" name="Straight Arrow Connector 64">
            <a:extLst>
              <a:ext uri="{FF2B5EF4-FFF2-40B4-BE49-F238E27FC236}">
                <a16:creationId xmlns:a16="http://schemas.microsoft.com/office/drawing/2014/main" id="{8BD7B3C0-4552-4BF9-848F-898EBEA9D608}"/>
              </a:ext>
            </a:extLst>
          </p:cNvPr>
          <p:cNvCxnSpPr>
            <a:cxnSpLocks/>
            <a:stCxn id="56" idx="3"/>
            <a:endCxn id="57" idx="1"/>
          </p:cNvCxnSpPr>
          <p:nvPr/>
        </p:nvCxnSpPr>
        <p:spPr>
          <a:xfrm>
            <a:off x="4890849" y="2426352"/>
            <a:ext cx="1139237" cy="181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4" name="Straight Arrow Connector 73">
            <a:extLst>
              <a:ext uri="{FF2B5EF4-FFF2-40B4-BE49-F238E27FC236}">
                <a16:creationId xmlns:a16="http://schemas.microsoft.com/office/drawing/2014/main" id="{AC569332-4F12-4079-A8DC-678058B8ED1E}"/>
              </a:ext>
            </a:extLst>
          </p:cNvPr>
          <p:cNvCxnSpPr>
            <a:cxnSpLocks/>
            <a:stCxn id="60" idx="1"/>
            <a:endCxn id="59" idx="3"/>
          </p:cNvCxnSpPr>
          <p:nvPr/>
        </p:nvCxnSpPr>
        <p:spPr>
          <a:xfrm flipH="1">
            <a:off x="5365194" y="4465931"/>
            <a:ext cx="843229" cy="65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6" name="Straight Arrow Connector 75">
            <a:extLst>
              <a:ext uri="{FF2B5EF4-FFF2-40B4-BE49-F238E27FC236}">
                <a16:creationId xmlns:a16="http://schemas.microsoft.com/office/drawing/2014/main" id="{5B87B7FC-393D-444E-B88A-551AE5702CC5}"/>
              </a:ext>
            </a:extLst>
          </p:cNvPr>
          <p:cNvCxnSpPr>
            <a:cxnSpLocks/>
            <a:stCxn id="59" idx="1"/>
            <a:endCxn id="58" idx="3"/>
          </p:cNvCxnSpPr>
          <p:nvPr/>
        </p:nvCxnSpPr>
        <p:spPr>
          <a:xfrm flipH="1" flipV="1">
            <a:off x="2611225" y="4465930"/>
            <a:ext cx="673722" cy="658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8" name="Connector: Elbow 77">
            <a:extLst>
              <a:ext uri="{FF2B5EF4-FFF2-40B4-BE49-F238E27FC236}">
                <a16:creationId xmlns:a16="http://schemas.microsoft.com/office/drawing/2014/main" id="{E8034CB9-DDE6-4A26-88C2-DF27F98392C8}"/>
              </a:ext>
            </a:extLst>
          </p:cNvPr>
          <p:cNvCxnSpPr>
            <a:stCxn id="58" idx="1"/>
            <a:endCxn id="61" idx="1"/>
          </p:cNvCxnSpPr>
          <p:nvPr/>
        </p:nvCxnSpPr>
        <p:spPr>
          <a:xfrm rot="10800000" flipH="1" flipV="1">
            <a:off x="458195" y="4465929"/>
            <a:ext cx="3159441" cy="1632033"/>
          </a:xfrm>
          <a:prstGeom prst="bentConnector3">
            <a:avLst>
              <a:gd name="adj1" fmla="val -7235"/>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7" name="Straight Connector 106">
            <a:extLst>
              <a:ext uri="{FF2B5EF4-FFF2-40B4-BE49-F238E27FC236}">
                <a16:creationId xmlns:a16="http://schemas.microsoft.com/office/drawing/2014/main" id="{ADAADCFD-C588-4024-9C66-8ECD8EB537D3}"/>
              </a:ext>
            </a:extLst>
          </p:cNvPr>
          <p:cNvCxnSpPr>
            <a:stCxn id="57" idx="3"/>
          </p:cNvCxnSpPr>
          <p:nvPr/>
        </p:nvCxnSpPr>
        <p:spPr>
          <a:xfrm flipV="1">
            <a:off x="8110331" y="2426352"/>
            <a:ext cx="779145" cy="1814"/>
          </a:xfrm>
          <a:prstGeom prst="line">
            <a:avLst/>
          </a:prstGeom>
        </p:spPr>
        <p:style>
          <a:lnRef idx="1">
            <a:schemeClr val="accent2"/>
          </a:lnRef>
          <a:fillRef idx="0">
            <a:schemeClr val="accent2"/>
          </a:fillRef>
          <a:effectRef idx="0">
            <a:schemeClr val="accent2"/>
          </a:effectRef>
          <a:fontRef idx="minor">
            <a:schemeClr val="tx1"/>
          </a:fontRef>
        </p:style>
      </p:cxnSp>
      <p:cxnSp>
        <p:nvCxnSpPr>
          <p:cNvPr id="109" name="Straight Connector 108">
            <a:extLst>
              <a:ext uri="{FF2B5EF4-FFF2-40B4-BE49-F238E27FC236}">
                <a16:creationId xmlns:a16="http://schemas.microsoft.com/office/drawing/2014/main" id="{CE6D59AB-2964-490D-B8D1-6A80EF69C8AA}"/>
              </a:ext>
            </a:extLst>
          </p:cNvPr>
          <p:cNvCxnSpPr>
            <a:cxnSpLocks/>
          </p:cNvCxnSpPr>
          <p:nvPr/>
        </p:nvCxnSpPr>
        <p:spPr>
          <a:xfrm>
            <a:off x="8889476" y="2426352"/>
            <a:ext cx="15319" cy="2046159"/>
          </a:xfrm>
          <a:prstGeom prst="line">
            <a:avLst/>
          </a:prstGeom>
        </p:spPr>
        <p:style>
          <a:lnRef idx="1">
            <a:schemeClr val="accent2"/>
          </a:lnRef>
          <a:fillRef idx="0">
            <a:schemeClr val="accent2"/>
          </a:fillRef>
          <a:effectRef idx="0">
            <a:schemeClr val="accent2"/>
          </a:effectRef>
          <a:fontRef idx="minor">
            <a:schemeClr val="tx1"/>
          </a:fontRef>
        </p:style>
      </p:cxnSp>
      <p:cxnSp>
        <p:nvCxnSpPr>
          <p:cNvPr id="118" name="Straight Arrow Connector 117">
            <a:extLst>
              <a:ext uri="{FF2B5EF4-FFF2-40B4-BE49-F238E27FC236}">
                <a16:creationId xmlns:a16="http://schemas.microsoft.com/office/drawing/2014/main" id="{658CE0CA-ADBD-476E-B601-AA2EBAD64D4F}"/>
              </a:ext>
            </a:extLst>
          </p:cNvPr>
          <p:cNvCxnSpPr>
            <a:endCxn id="60" idx="3"/>
          </p:cNvCxnSpPr>
          <p:nvPr/>
        </p:nvCxnSpPr>
        <p:spPr>
          <a:xfrm flipH="1">
            <a:off x="8404987" y="4465929"/>
            <a:ext cx="499808" cy="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23701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11" name="Rectangle 2">
            <a:extLst>
              <a:ext uri="{FF2B5EF4-FFF2-40B4-BE49-F238E27FC236}">
                <a16:creationId xmlns:a16="http://schemas.microsoft.com/office/drawing/2014/main" id="{8E5AC374-6227-4FC7-88E0-9D94D76320D8}"/>
              </a:ext>
            </a:extLst>
          </p:cNvPr>
          <p:cNvSpPr>
            <a:spLocks noChangeArrowheads="1"/>
          </p:cNvSpPr>
          <p:nvPr/>
        </p:nvSpPr>
        <p:spPr bwMode="auto">
          <a:xfrm>
            <a:off x="72008" y="1293834"/>
            <a:ext cx="863495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Emotional Awareness &amp; Self-Reflection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Stress &amp; Anxiety Management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Accessibility to Mental Health Support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Stigma Around Mental Health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2">
            <a:extLst>
              <a:ext uri="{FF2B5EF4-FFF2-40B4-BE49-F238E27FC236}">
                <a16:creationId xmlns:a16="http://schemas.microsoft.com/office/drawing/2014/main" id="{2A742A32-9806-426F-96A5-25F4E07A19EB}"/>
              </a:ext>
            </a:extLst>
          </p:cNvPr>
          <p:cNvSpPr>
            <a:spLocks noChangeArrowheads="1"/>
          </p:cNvSpPr>
          <p:nvPr/>
        </p:nvSpPr>
        <p:spPr bwMode="auto">
          <a:xfrm>
            <a:off x="103414" y="3429000"/>
            <a:ext cx="863495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dirty="0"/>
              <a:t>Enhances accessibility and engagement in digital mental health solutions.</a:t>
            </a:r>
          </a:p>
          <a:p>
            <a:pPr marL="285750" lvl="0" indent="-285750" eaLnBrk="0" fontAlgn="base" hangingPunct="0">
              <a:spcBef>
                <a:spcPct val="0"/>
              </a:spcBef>
              <a:spcAft>
                <a:spcPct val="0"/>
              </a:spcAft>
              <a:buFont typeface="Arial" panose="020B0604020202020204" pitchFamily="34" charset="0"/>
              <a:buChar char="•"/>
            </a:pPr>
            <a:r>
              <a:rPr lang="en-US" dirty="0"/>
              <a:t>Contributes to the development of adaptive AI in mental wellness.</a:t>
            </a:r>
          </a:p>
          <a:p>
            <a:pPr marL="285750" lvl="0" indent="-285750" eaLnBrk="0" fontAlgn="base" hangingPunct="0">
              <a:spcBef>
                <a:spcPct val="0"/>
              </a:spcBef>
              <a:spcAft>
                <a:spcPct val="0"/>
              </a:spcAft>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Accessibility to mental </a:t>
            </a:r>
            <a:r>
              <a:rPr lang="en-US" altLang="en-US" dirty="0">
                <a:latin typeface="Times New Roman" panose="02020603050405020304" pitchFamily="18" charset="0"/>
                <a:cs typeface="Times New Roman" panose="02020603050405020304" pitchFamily="18" charset="0"/>
              </a:rPr>
              <a:t>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ealth </a:t>
            </a:r>
            <a:r>
              <a:rPr lang="en-US" altLang="en-US" dirty="0">
                <a:latin typeface="Times New Roman" panose="02020603050405020304" pitchFamily="18" charset="0"/>
                <a:cs typeface="Times New Roman" panose="02020603050405020304" pitchFamily="18" charset="0"/>
              </a:rPr>
              <a:t>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upport</a:t>
            </a:r>
          </a:p>
          <a:p>
            <a:pPr marL="285750" lvl="0" indent="-285750" eaLnBrk="0" fontAlgn="base" hangingPunct="0">
              <a:spcBef>
                <a:spcPct val="0"/>
              </a:spcBef>
              <a:spcAft>
                <a:spcPct val="0"/>
              </a:spcAft>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Expansion by i</a:t>
            </a:r>
            <a:r>
              <a:rPr lang="en-US" dirty="0"/>
              <a:t>ntegration with therapy &amp; counseling Services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6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90B0-DF45-D772-F2C2-4DA9C945970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FEB11A7-55F7-BA44-4ABC-0E9514E1A407}"/>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14D0127-5B9D-1F1F-5AC4-DBE6A7B70C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1913F5F-C1D7-7FAC-0C7C-5A9C9314C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9A5981-DFEE-F419-D91C-B08F4A8F86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0BB74E09-E276-413E-8E1F-A682648DF0D6}"/>
              </a:ext>
            </a:extLst>
          </p:cNvPr>
          <p:cNvSpPr/>
          <p:nvPr/>
        </p:nvSpPr>
        <p:spPr>
          <a:xfrm>
            <a:off x="377072" y="1191477"/>
            <a:ext cx="8080981" cy="4672433"/>
          </a:xfrm>
          <a:prstGeom prst="rect">
            <a:avLst/>
          </a:prstGeom>
        </p:spPr>
        <p:txBody>
          <a:bodyPr wrap="square">
            <a:spAutoFit/>
          </a:bodyPr>
          <a:lstStyle/>
          <a:p>
            <a:pPr marL="342900" marR="75565" lvl="0" indent="-342900" algn="just">
              <a:lnSpc>
                <a:spcPct val="150000"/>
              </a:lnSpc>
              <a:spcBef>
                <a:spcPts val="505"/>
              </a:spcBef>
              <a:spcAft>
                <a:spcPts val="0"/>
              </a:spcAft>
              <a:buSzPts val="1200"/>
              <a:buFont typeface="Times New Roman" panose="02020603050405020304" pitchFamily="18" charset="0"/>
              <a:buAutoNum type="arabicPeriod"/>
              <a:tabLst>
                <a:tab pos="597535" algn="l"/>
              </a:tabLst>
            </a:pPr>
            <a:r>
              <a:rPr lang="en-US" sz="1600" dirty="0" err="1">
                <a:latin typeface="Times New Roman" panose="02020603050405020304" pitchFamily="18" charset="0"/>
                <a:ea typeface="Times New Roman" panose="02020603050405020304" pitchFamily="18" charset="0"/>
              </a:rPr>
              <a:t>Baikie</a:t>
            </a:r>
            <a:r>
              <a:rPr lang="en-US" sz="1600" dirty="0">
                <a:latin typeface="Times New Roman" panose="02020603050405020304" pitchFamily="18" charset="0"/>
                <a:ea typeface="Times New Roman" panose="02020603050405020304" pitchFamily="18" charset="0"/>
              </a:rPr>
              <a:t>, K. A., &amp; Wilhelm, K. (2020). Emotional and physical health benefits of expressive writing. </a:t>
            </a:r>
            <a:r>
              <a:rPr lang="en-US" sz="1600" i="1" dirty="0">
                <a:latin typeface="Times New Roman" panose="02020603050405020304" pitchFamily="18" charset="0"/>
                <a:ea typeface="Times New Roman" panose="02020603050405020304" pitchFamily="18" charset="0"/>
              </a:rPr>
              <a:t>Advances in Psychiatric Treatment, 11</a:t>
            </a:r>
            <a:r>
              <a:rPr lang="en-US" sz="1600" dirty="0">
                <a:latin typeface="Times New Roman" panose="02020603050405020304" pitchFamily="18" charset="0"/>
                <a:ea typeface="Times New Roman" panose="02020603050405020304" pitchFamily="18" charset="0"/>
              </a:rPr>
              <a:t>(5), 338-346.</a:t>
            </a:r>
            <a:endParaRPr lang="en-IN" sz="1400" dirty="0">
              <a:latin typeface="Times New Roman" panose="02020603050405020304" pitchFamily="18" charset="0"/>
              <a:ea typeface="Times New Roman" panose="02020603050405020304" pitchFamily="18" charset="0"/>
            </a:endParaRPr>
          </a:p>
          <a:p>
            <a:pPr marL="342900" marR="75565" lvl="0" indent="-342900" algn="just">
              <a:lnSpc>
                <a:spcPct val="150000"/>
              </a:lnSpc>
              <a:spcBef>
                <a:spcPts val="505"/>
              </a:spcBef>
              <a:spcAft>
                <a:spcPts val="0"/>
              </a:spcAft>
              <a:buSzPts val="1200"/>
              <a:buFont typeface="Times New Roman" panose="02020603050405020304" pitchFamily="18" charset="0"/>
              <a:buAutoNum type="arabicPeriod"/>
              <a:tabLst>
                <a:tab pos="597535" algn="l"/>
              </a:tabLst>
            </a:pPr>
            <a:r>
              <a:rPr lang="en-US" sz="1600" dirty="0" err="1">
                <a:latin typeface="Times New Roman" panose="02020603050405020304" pitchFamily="18" charset="0"/>
                <a:ea typeface="Times New Roman" panose="02020603050405020304" pitchFamily="18" charset="0"/>
              </a:rPr>
              <a:t>Bennion</a:t>
            </a:r>
            <a:r>
              <a:rPr lang="en-US" sz="1600" dirty="0">
                <a:latin typeface="Times New Roman" panose="02020603050405020304" pitchFamily="18" charset="0"/>
                <a:ea typeface="Times New Roman" panose="02020603050405020304" pitchFamily="18" charset="0"/>
              </a:rPr>
              <a:t>, M. R., Hardy, G., Moore, R. K., &amp; Millings, A. (2020). E-therapies in England for mental health problems: An updated systematic review. </a:t>
            </a:r>
            <a:r>
              <a:rPr lang="en-US" sz="1600" i="1" dirty="0">
                <a:latin typeface="Times New Roman" panose="02020603050405020304" pitchFamily="18" charset="0"/>
                <a:ea typeface="Times New Roman" panose="02020603050405020304" pitchFamily="18" charset="0"/>
              </a:rPr>
              <a:t>Journal of Medical Internet Research, 22</a:t>
            </a:r>
            <a:r>
              <a:rPr lang="en-US" sz="1600" dirty="0">
                <a:latin typeface="Times New Roman" panose="02020603050405020304" pitchFamily="18" charset="0"/>
                <a:ea typeface="Times New Roman" panose="02020603050405020304" pitchFamily="18" charset="0"/>
              </a:rPr>
              <a:t>(7), e15641.</a:t>
            </a:r>
            <a:endParaRPr lang="en-IN" sz="1400" dirty="0">
              <a:latin typeface="Times New Roman" panose="02020603050405020304" pitchFamily="18" charset="0"/>
              <a:ea typeface="Times New Roman" panose="02020603050405020304" pitchFamily="18" charset="0"/>
            </a:endParaRPr>
          </a:p>
          <a:p>
            <a:pPr marL="342900" marR="75565" lvl="0" indent="-342900" algn="just">
              <a:lnSpc>
                <a:spcPct val="150000"/>
              </a:lnSpc>
              <a:spcBef>
                <a:spcPts val="505"/>
              </a:spcBef>
              <a:spcAft>
                <a:spcPts val="0"/>
              </a:spcAft>
              <a:buSzPts val="1200"/>
              <a:buFont typeface="Times New Roman" panose="02020603050405020304" pitchFamily="18" charset="0"/>
              <a:buAutoNum type="arabicPeriod"/>
              <a:tabLst>
                <a:tab pos="597535" algn="l"/>
              </a:tabLst>
            </a:pPr>
            <a:r>
              <a:rPr lang="en-US" sz="1600" dirty="0">
                <a:latin typeface="Times New Roman" panose="02020603050405020304" pitchFamily="18" charset="0"/>
                <a:ea typeface="Times New Roman" panose="02020603050405020304" pitchFamily="18" charset="0"/>
              </a:rPr>
              <a:t>Fitzpatrick, K. K., Darcy, A., &amp; </a:t>
            </a:r>
            <a:r>
              <a:rPr lang="en-US" sz="1600" dirty="0" err="1">
                <a:latin typeface="Times New Roman" panose="02020603050405020304" pitchFamily="18" charset="0"/>
                <a:ea typeface="Times New Roman" panose="02020603050405020304" pitchFamily="18" charset="0"/>
              </a:rPr>
              <a:t>Vierhile</a:t>
            </a:r>
            <a:r>
              <a:rPr lang="en-US" sz="1600" dirty="0">
                <a:latin typeface="Times New Roman" panose="02020603050405020304" pitchFamily="18" charset="0"/>
                <a:ea typeface="Times New Roman" panose="02020603050405020304" pitchFamily="18" charset="0"/>
              </a:rPr>
              <a:t>, M. (2017). Delivering cognitive behavior therapy to young adults with symptoms of depression and anxiety using a fully automated conversational agent. </a:t>
            </a:r>
            <a:r>
              <a:rPr lang="en-US" sz="1600" i="1" dirty="0">
                <a:latin typeface="Times New Roman" panose="02020603050405020304" pitchFamily="18" charset="0"/>
                <a:ea typeface="Times New Roman" panose="02020603050405020304" pitchFamily="18" charset="0"/>
              </a:rPr>
              <a:t>JMIR Mental Health, 4</a:t>
            </a:r>
            <a:r>
              <a:rPr lang="en-US" sz="1600" dirty="0">
                <a:latin typeface="Times New Roman" panose="02020603050405020304" pitchFamily="18" charset="0"/>
                <a:ea typeface="Times New Roman" panose="02020603050405020304" pitchFamily="18" charset="0"/>
              </a:rPr>
              <a:t>(2), e19.</a:t>
            </a:r>
            <a:endParaRPr lang="en-IN" sz="1400" dirty="0">
              <a:latin typeface="Times New Roman" panose="02020603050405020304" pitchFamily="18" charset="0"/>
              <a:ea typeface="Times New Roman" panose="02020603050405020304" pitchFamily="18" charset="0"/>
            </a:endParaRPr>
          </a:p>
          <a:p>
            <a:pPr marL="342900" marR="75565" lvl="0" indent="-342900" algn="just">
              <a:lnSpc>
                <a:spcPct val="150000"/>
              </a:lnSpc>
              <a:spcBef>
                <a:spcPts val="505"/>
              </a:spcBef>
              <a:spcAft>
                <a:spcPts val="0"/>
              </a:spcAft>
              <a:buSzPts val="1200"/>
              <a:buFont typeface="Times New Roman" panose="02020603050405020304" pitchFamily="18" charset="0"/>
              <a:buAutoNum type="arabicPeriod"/>
              <a:tabLst>
                <a:tab pos="597535" algn="l"/>
              </a:tabLst>
            </a:pPr>
            <a:r>
              <a:rPr lang="en-US" sz="1600" dirty="0">
                <a:latin typeface="Times New Roman" panose="02020603050405020304" pitchFamily="18" charset="0"/>
                <a:ea typeface="Times New Roman" panose="02020603050405020304" pitchFamily="18" charset="0"/>
              </a:rPr>
              <a:t>Hollis, C., Falconer, C. J., Martin, J. L., Whittington, C., Stockton, S., </a:t>
            </a:r>
            <a:r>
              <a:rPr lang="en-US" sz="1600" dirty="0" err="1">
                <a:latin typeface="Times New Roman" panose="02020603050405020304" pitchFamily="18" charset="0"/>
                <a:ea typeface="Times New Roman" panose="02020603050405020304" pitchFamily="18" charset="0"/>
              </a:rPr>
              <a:t>Glazebrook</a:t>
            </a:r>
            <a:r>
              <a:rPr lang="en-US" sz="1600" dirty="0">
                <a:latin typeface="Times New Roman" panose="02020603050405020304" pitchFamily="18" charset="0"/>
                <a:ea typeface="Times New Roman" panose="02020603050405020304" pitchFamily="18" charset="0"/>
              </a:rPr>
              <a:t>, C., &amp; Davies, E. B. (2018). Annual research review: Digital health interventions for children and young people with mental health problems–a systematic and meta-review. </a:t>
            </a:r>
            <a:r>
              <a:rPr lang="en-US" sz="1600" i="1" dirty="0">
                <a:latin typeface="Times New Roman" panose="02020603050405020304" pitchFamily="18" charset="0"/>
                <a:ea typeface="Times New Roman" panose="02020603050405020304" pitchFamily="18" charset="0"/>
              </a:rPr>
              <a:t>Journal of Child Psychology and Psychiatry, 59</a:t>
            </a:r>
            <a:r>
              <a:rPr lang="en-US" sz="1600" dirty="0">
                <a:latin typeface="Times New Roman" panose="02020603050405020304" pitchFamily="18" charset="0"/>
                <a:ea typeface="Times New Roman" panose="02020603050405020304" pitchFamily="18" charset="0"/>
              </a:rPr>
              <a:t>(4), 415-435.</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15379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a:solidFill>
                  <a:srgbClr val="0060AA"/>
                </a:solidFill>
                <a:latin typeface="Garamond" pitchFamily="18" charset="0"/>
              </a:rPr>
              <a:t>THANK</a:t>
            </a:r>
            <a:r>
              <a:rPr lang="en-US" sz="7200">
                <a:latin typeface="Garamond" pitchFamily="18" charset="0"/>
              </a:rPr>
              <a:t> </a:t>
            </a:r>
            <a:r>
              <a:rPr lang="en-US" sz="7200">
                <a:solidFill>
                  <a:srgbClr val="E31E24"/>
                </a:solidFill>
                <a:latin typeface="Garamond" pitchFamily="18" charset="0"/>
              </a:rPr>
              <a:t>YOU</a:t>
            </a:r>
            <a:endParaRPr lang="en-IN" sz="720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1058</Words>
  <Application>Microsoft Office PowerPoint</Application>
  <PresentationFormat>On-screen Show (4:3)</PresentationFormat>
  <Paragraphs>120</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Yu Gothic</vt:lpstr>
      <vt:lpstr>Arial</vt:lpstr>
      <vt:lpstr>Calibri</vt:lpstr>
      <vt:lpstr>Cambria</vt:lpstr>
      <vt:lpstr>Garamond</vt:lpstr>
      <vt:lpstr>Symbol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Adeela Azeez</cp:lastModifiedBy>
  <cp:revision>46</cp:revision>
  <cp:lastPrinted>2022-09-05T08:43:44Z</cp:lastPrinted>
  <dcterms:created xsi:type="dcterms:W3CDTF">2020-01-16T09:05:56Z</dcterms:created>
  <dcterms:modified xsi:type="dcterms:W3CDTF">2026-01-29T17:43:53Z</dcterms:modified>
</cp:coreProperties>
</file>