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0"/>
  </p:notesMasterIdLst>
  <p:sldIdLst>
    <p:sldId id="256" r:id="rId5"/>
    <p:sldId id="497" r:id="rId6"/>
    <p:sldId id="499" r:id="rId7"/>
    <p:sldId id="500" r:id="rId8"/>
    <p:sldId id="501" r:id="rId9"/>
    <p:sldId id="513" r:id="rId10"/>
    <p:sldId id="502" r:id="rId11"/>
    <p:sldId id="512" r:id="rId12"/>
    <p:sldId id="504" r:id="rId13"/>
    <p:sldId id="514" r:id="rId14"/>
    <p:sldId id="505" r:id="rId15"/>
    <p:sldId id="511" r:id="rId16"/>
    <p:sldId id="506" r:id="rId17"/>
    <p:sldId id="507" r:id="rId18"/>
    <p:sldId id="269" r:id="rId19"/>
  </p:sldIdLst>
  <p:sldSz cx="9144000" cy="6858000" type="screen4x3"/>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0AA"/>
    <a:srgbClr val="0066B3"/>
    <a:srgbClr val="E31E24"/>
    <a:srgbClr val="006CB4"/>
    <a:srgbClr val="E8303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437" autoAdjust="0"/>
    <p:restoredTop sz="94660"/>
  </p:normalViewPr>
  <p:slideViewPr>
    <p:cSldViewPr>
      <p:cViewPr varScale="1">
        <p:scale>
          <a:sx n="81" d="100"/>
          <a:sy n="81" d="100"/>
        </p:scale>
        <p:origin x="1003" y="58"/>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42668431-CD35-4516-818D-B41B2C4843CF}" type="datetimeFigureOut">
              <a:rPr lang="en-IN" smtClean="0"/>
              <a:t>29-01-2026</a:t>
            </a:fld>
            <a:endParaRPr lang="en-IN"/>
          </a:p>
        </p:txBody>
      </p:sp>
      <p:sp>
        <p:nvSpPr>
          <p:cNvPr id="4" name="Slide Image Placeholder 3"/>
          <p:cNvSpPr>
            <a:spLocks noGrp="1" noRot="1" noChangeAspect="1"/>
          </p:cNvSpPr>
          <p:nvPr>
            <p:ph type="sldImg" idx="2"/>
          </p:nvPr>
        </p:nvSpPr>
        <p:spPr>
          <a:xfrm>
            <a:off x="1144588" y="1243013"/>
            <a:ext cx="4471987" cy="33559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DAB949B3-C4AB-4FB2-8B24-B07A558BD59F}" type="slidenum">
              <a:rPr lang="en-IN" smtClean="0"/>
              <a:t>‹#›</a:t>
            </a:fld>
            <a:endParaRPr lang="en-IN"/>
          </a:p>
        </p:txBody>
      </p:sp>
    </p:spTree>
    <p:extLst>
      <p:ext uri="{BB962C8B-B14F-4D97-AF65-F5344CB8AC3E}">
        <p14:creationId xmlns:p14="http://schemas.microsoft.com/office/powerpoint/2010/main" val="2676534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2</a:t>
            </a:fld>
            <a:endParaRPr lang="en-IN"/>
          </a:p>
        </p:txBody>
      </p:sp>
    </p:spTree>
    <p:extLst>
      <p:ext uri="{BB962C8B-B14F-4D97-AF65-F5344CB8AC3E}">
        <p14:creationId xmlns:p14="http://schemas.microsoft.com/office/powerpoint/2010/main" val="36356005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3</a:t>
            </a:fld>
            <a:endParaRPr lang="en-IN"/>
          </a:p>
        </p:txBody>
      </p:sp>
    </p:spTree>
    <p:extLst>
      <p:ext uri="{BB962C8B-B14F-4D97-AF65-F5344CB8AC3E}">
        <p14:creationId xmlns:p14="http://schemas.microsoft.com/office/powerpoint/2010/main" val="35466966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4</a:t>
            </a:fld>
            <a:endParaRPr lang="en-IN"/>
          </a:p>
        </p:txBody>
      </p:sp>
    </p:spTree>
    <p:extLst>
      <p:ext uri="{BB962C8B-B14F-4D97-AF65-F5344CB8AC3E}">
        <p14:creationId xmlns:p14="http://schemas.microsoft.com/office/powerpoint/2010/main" val="41504681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5</a:t>
            </a:fld>
            <a:endParaRPr lang="en-IN"/>
          </a:p>
        </p:txBody>
      </p:sp>
    </p:spTree>
    <p:extLst>
      <p:ext uri="{BB962C8B-B14F-4D97-AF65-F5344CB8AC3E}">
        <p14:creationId xmlns:p14="http://schemas.microsoft.com/office/powerpoint/2010/main" val="31608931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6</a:t>
            </a:fld>
            <a:endParaRPr lang="en-IN"/>
          </a:p>
        </p:txBody>
      </p:sp>
    </p:spTree>
    <p:extLst>
      <p:ext uri="{BB962C8B-B14F-4D97-AF65-F5344CB8AC3E}">
        <p14:creationId xmlns:p14="http://schemas.microsoft.com/office/powerpoint/2010/main" val="33303904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7</a:t>
            </a:fld>
            <a:endParaRPr lang="en-IN"/>
          </a:p>
        </p:txBody>
      </p:sp>
    </p:spTree>
    <p:extLst>
      <p:ext uri="{BB962C8B-B14F-4D97-AF65-F5344CB8AC3E}">
        <p14:creationId xmlns:p14="http://schemas.microsoft.com/office/powerpoint/2010/main" val="16237544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8</a:t>
            </a:fld>
            <a:endParaRPr lang="en-IN"/>
          </a:p>
        </p:txBody>
      </p:sp>
    </p:spTree>
    <p:extLst>
      <p:ext uri="{BB962C8B-B14F-4D97-AF65-F5344CB8AC3E}">
        <p14:creationId xmlns:p14="http://schemas.microsoft.com/office/powerpoint/2010/main" val="15403118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9</a:t>
            </a:fld>
            <a:endParaRPr lang="en-IN"/>
          </a:p>
        </p:txBody>
      </p:sp>
    </p:spTree>
    <p:extLst>
      <p:ext uri="{BB962C8B-B14F-4D97-AF65-F5344CB8AC3E}">
        <p14:creationId xmlns:p14="http://schemas.microsoft.com/office/powerpoint/2010/main" val="36360504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10</a:t>
            </a:fld>
            <a:endParaRPr lang="en-IN"/>
          </a:p>
        </p:txBody>
      </p:sp>
    </p:spTree>
    <p:extLst>
      <p:ext uri="{BB962C8B-B14F-4D97-AF65-F5344CB8AC3E}">
        <p14:creationId xmlns:p14="http://schemas.microsoft.com/office/powerpoint/2010/main" val="18071908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11</a:t>
            </a:fld>
            <a:endParaRPr lang="en-IN"/>
          </a:p>
        </p:txBody>
      </p:sp>
    </p:spTree>
    <p:extLst>
      <p:ext uri="{BB962C8B-B14F-4D97-AF65-F5344CB8AC3E}">
        <p14:creationId xmlns:p14="http://schemas.microsoft.com/office/powerpoint/2010/main" val="42715464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New Courses replaced with New Programmes</a:t>
            </a:r>
            <a:endParaRPr lang="en-IN"/>
          </a:p>
        </p:txBody>
      </p:sp>
      <p:sp>
        <p:nvSpPr>
          <p:cNvPr id="4" name="Slide Number Placeholder 3"/>
          <p:cNvSpPr>
            <a:spLocks noGrp="1"/>
          </p:cNvSpPr>
          <p:nvPr>
            <p:ph type="sldNum" sz="quarter" idx="5"/>
          </p:nvPr>
        </p:nvSpPr>
        <p:spPr/>
        <p:txBody>
          <a:bodyPr/>
          <a:lstStyle/>
          <a:p>
            <a:fld id="{DAB949B3-C4AB-4FB2-8B24-B07A558BD59F}" type="slidenum">
              <a:rPr lang="en-IN" smtClean="0"/>
              <a:t>12</a:t>
            </a:fld>
            <a:endParaRPr lang="en-IN"/>
          </a:p>
        </p:txBody>
      </p:sp>
    </p:spTree>
    <p:extLst>
      <p:ext uri="{BB962C8B-B14F-4D97-AF65-F5344CB8AC3E}">
        <p14:creationId xmlns:p14="http://schemas.microsoft.com/office/powerpoint/2010/main" val="32651354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13</a:t>
            </a:fld>
            <a:endParaRPr lang="en-IN"/>
          </a:p>
        </p:txBody>
      </p:sp>
    </p:spTree>
    <p:extLst>
      <p:ext uri="{BB962C8B-B14F-4D97-AF65-F5344CB8AC3E}">
        <p14:creationId xmlns:p14="http://schemas.microsoft.com/office/powerpoint/2010/main" val="41836910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EA6B61-674B-0ABF-F5C3-A72BF2845D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2FBED0-DE41-A040-921A-D95B51852C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B3F754-664A-ECDE-8199-65800D976329}"/>
              </a:ext>
            </a:extLst>
          </p:cNvPr>
          <p:cNvSpPr>
            <a:spLocks noGrp="1"/>
          </p:cNvSpPr>
          <p:nvPr>
            <p:ph type="body" idx="1"/>
          </p:nvPr>
        </p:nvSpPr>
        <p:spPr/>
        <p:txBody>
          <a:bodyPr/>
          <a:lstStyle/>
          <a:p>
            <a:r>
              <a:rPr lang="en-US" dirty="0"/>
              <a:t>New Courses replaced with New Programmes</a:t>
            </a:r>
            <a:endParaRPr lang="en-IN" dirty="0"/>
          </a:p>
        </p:txBody>
      </p:sp>
      <p:sp>
        <p:nvSpPr>
          <p:cNvPr id="4" name="Slide Number Placeholder 3">
            <a:extLst>
              <a:ext uri="{FF2B5EF4-FFF2-40B4-BE49-F238E27FC236}">
                <a16:creationId xmlns:a16="http://schemas.microsoft.com/office/drawing/2014/main" id="{BCAF3E54-5ADF-52CC-11B5-B7F7837DEE42}"/>
              </a:ext>
            </a:extLst>
          </p:cNvPr>
          <p:cNvSpPr>
            <a:spLocks noGrp="1"/>
          </p:cNvSpPr>
          <p:nvPr>
            <p:ph type="sldNum" sz="quarter" idx="5"/>
          </p:nvPr>
        </p:nvSpPr>
        <p:spPr/>
        <p:txBody>
          <a:bodyPr/>
          <a:lstStyle/>
          <a:p>
            <a:fld id="{DAB949B3-C4AB-4FB2-8B24-B07A558BD59F}" type="slidenum">
              <a:rPr lang="en-IN" smtClean="0"/>
              <a:t>14</a:t>
            </a:fld>
            <a:endParaRPr lang="en-IN"/>
          </a:p>
        </p:txBody>
      </p:sp>
    </p:spTree>
    <p:extLst>
      <p:ext uri="{BB962C8B-B14F-4D97-AF65-F5344CB8AC3E}">
        <p14:creationId xmlns:p14="http://schemas.microsoft.com/office/powerpoint/2010/main" val="3277129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29-01-2026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971617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29-01-2026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6711951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AA89A1-F17A-4D3D-AC08-D16056C16514}" type="datetimeFigureOut">
              <a:rPr lang="en-IN" smtClean="0"/>
              <a:t>29-01-2026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40507170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F4AA89A1-F17A-4D3D-AC08-D16056C16514}" type="datetimeFigureOut">
              <a:rPr lang="en-IN" smtClean="0"/>
              <a:t>29-01-2026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40911858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4AA89A1-F17A-4D3D-AC08-D16056C16514}" type="datetimeFigureOut">
              <a:rPr lang="en-IN" smtClean="0"/>
              <a:t>29-01-2026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24613015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F4AA89A1-F17A-4D3D-AC08-D16056C16514}" type="datetimeFigureOut">
              <a:rPr lang="en-IN" smtClean="0"/>
              <a:t>29-01-2026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7852406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AA89A1-F17A-4D3D-AC08-D16056C16514}" type="datetimeFigureOut">
              <a:rPr lang="en-IN" smtClean="0"/>
              <a:t>29-01-2026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27517875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AA89A1-F17A-4D3D-AC08-D16056C16514}" type="datetimeFigureOut">
              <a:rPr lang="en-IN" smtClean="0"/>
              <a:t>29-01-2026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929679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AA89A1-F17A-4D3D-AC08-D16056C16514}" type="datetimeFigureOut">
              <a:rPr lang="en-IN" smtClean="0"/>
              <a:t>29-01-2026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3686846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29-01-2026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3627557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29-01-2026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extLst>
      <p:ext uri="{BB962C8B-B14F-4D97-AF65-F5344CB8AC3E}">
        <p14:creationId xmlns:p14="http://schemas.microsoft.com/office/powerpoint/2010/main" val="17953898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AA89A1-F17A-4D3D-AC08-D16056C16514}" type="datetimeFigureOut">
              <a:rPr lang="en-IN" smtClean="0"/>
              <a:t>29-01-2026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21C46D-3F04-4F73-BF36-E6D9DA5AE143}" type="slidenum">
              <a:rPr lang="en-IN" smtClean="0"/>
              <a:t>‹#›</a:t>
            </a:fld>
            <a:endParaRPr lang="en-IN"/>
          </a:p>
        </p:txBody>
      </p:sp>
    </p:spTree>
    <p:extLst>
      <p:ext uri="{BB962C8B-B14F-4D97-AF65-F5344CB8AC3E}">
        <p14:creationId xmlns:p14="http://schemas.microsoft.com/office/powerpoint/2010/main" val="40687599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PT Admission Drive 2021-22-final-2_Page_01.jpg"/>
          <p:cNvPicPr>
            <a:picLocks noChangeAspect="1"/>
          </p:cNvPicPr>
          <p:nvPr/>
        </p:nvPicPr>
        <p:blipFill>
          <a:blip r:embed="rId2"/>
          <a:stretch>
            <a:fillRect/>
          </a:stretch>
        </p:blipFill>
        <p:spPr>
          <a:xfrm>
            <a:off x="0" y="0"/>
            <a:ext cx="9144000" cy="6850383"/>
          </a:xfrm>
          <a:prstGeom prst="rect">
            <a:avLst/>
          </a:prstGeom>
        </p:spPr>
      </p:pic>
    </p:spTree>
  </p:cSld>
  <p:clrMapOvr>
    <a:masterClrMapping/>
  </p:clrMapOvr>
  <p:transition>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p:cNvCxnSpPr/>
          <p:nvPr/>
        </p:nvCxnSpPr>
        <p:spPr>
          <a:xfrm>
            <a:off x="1520415" y="2060848"/>
            <a:ext cx="6306546" cy="0"/>
          </a:xfrm>
          <a:prstGeom prst="line">
            <a:avLst/>
          </a:prstGeom>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70382" y="150274"/>
            <a:ext cx="6396065" cy="920873"/>
          </a:xfrm>
          <a:prstGeom prst="rect">
            <a:avLst/>
          </a:prstGeom>
        </p:spPr>
      </p:pic>
      <p:sp>
        <p:nvSpPr>
          <p:cNvPr id="13" name="TextBox 12"/>
          <p:cNvSpPr txBox="1"/>
          <p:nvPr/>
        </p:nvSpPr>
        <p:spPr>
          <a:xfrm>
            <a:off x="236440" y="2219553"/>
            <a:ext cx="8784976" cy="830997"/>
          </a:xfrm>
          <a:prstGeom prst="rect">
            <a:avLst/>
          </a:prstGeom>
          <a:noFill/>
        </p:spPr>
        <p:txBody>
          <a:bodyPr wrap="square" rtlCol="0">
            <a:spAutoFit/>
          </a:bodyPr>
          <a:lstStyle/>
          <a:p>
            <a:pPr lvl="0" algn="ctr">
              <a:buSzPct val="25000"/>
            </a:pPr>
            <a:r>
              <a:rPr lang="en-IN" sz="2400" b="1" dirty="0">
                <a:solidFill>
                  <a:srgbClr val="0070C0"/>
                </a:solidFill>
                <a:ea typeface="Cambria" panose="02040503050406030204" pitchFamily="18" charset="0"/>
                <a:cs typeface="Times New Roman" panose="02020603050405020304" pitchFamily="18" charset="0"/>
                <a:sym typeface="Arial"/>
              </a:rPr>
              <a:t>Pre-Final Year Project Synopsis</a:t>
            </a:r>
          </a:p>
          <a:p>
            <a:pPr lvl="0" algn="ctr">
              <a:buSzPct val="25000"/>
            </a:pPr>
            <a:r>
              <a:rPr lang="en-IN" sz="2400" b="1" dirty="0">
                <a:solidFill>
                  <a:srgbClr val="0070C0"/>
                </a:solidFill>
                <a:ea typeface="Cambria" panose="02040503050406030204" pitchFamily="18" charset="0"/>
                <a:cs typeface="Times New Roman" panose="02020603050405020304" pitchFamily="18" charset="0"/>
                <a:sym typeface="Arial"/>
              </a:rPr>
              <a:t>Submitted by</a:t>
            </a:r>
          </a:p>
        </p:txBody>
      </p:sp>
      <p:sp>
        <p:nvSpPr>
          <p:cNvPr id="8" name="TextBox 7">
            <a:extLst>
              <a:ext uri="{FF2B5EF4-FFF2-40B4-BE49-F238E27FC236}">
                <a16:creationId xmlns:a16="http://schemas.microsoft.com/office/drawing/2014/main" id="{40D4C745-33B7-0116-E20F-11A7F0DFD46F}"/>
              </a:ext>
            </a:extLst>
          </p:cNvPr>
          <p:cNvSpPr txBox="1"/>
          <p:nvPr/>
        </p:nvSpPr>
        <p:spPr>
          <a:xfrm>
            <a:off x="201190" y="5785112"/>
            <a:ext cx="8584032" cy="369332"/>
          </a:xfrm>
          <a:prstGeom prst="rect">
            <a:avLst/>
          </a:prstGeom>
          <a:noFill/>
        </p:spPr>
        <p:txBody>
          <a:bodyPr wrap="square">
            <a:spAutoFit/>
          </a:bodyPr>
          <a:lstStyle>
            <a:defPPr>
              <a:defRPr lang="en-US"/>
            </a:defPPr>
            <a:lvl1pPr lvl="0">
              <a:buSzPct val="25000"/>
              <a:defRPr b="1">
                <a:solidFill>
                  <a:srgbClr val="0070C0"/>
                </a:solidFill>
                <a:ea typeface="Cambria" panose="02040503050406030204" pitchFamily="18" charset="0"/>
                <a:cs typeface="Times New Roman" panose="02020603050405020304" pitchFamily="18" charset="0"/>
              </a:defRPr>
            </a:lvl1pPr>
          </a:lstStyle>
          <a:p>
            <a:r>
              <a:rPr lang="en-IN" dirty="0">
                <a:sym typeface="Arial"/>
              </a:rPr>
              <a:t>Faculty Mentor: </a:t>
            </a:r>
            <a:r>
              <a:rPr lang="en-IN" dirty="0"/>
              <a:t>Ms. </a:t>
            </a:r>
            <a:r>
              <a:rPr lang="en-IN" dirty="0" err="1"/>
              <a:t>Iflah</a:t>
            </a:r>
            <a:r>
              <a:rPr lang="en-IN" dirty="0"/>
              <a:t> Aijaz</a:t>
            </a:r>
          </a:p>
        </p:txBody>
      </p:sp>
      <p:graphicFrame>
        <p:nvGraphicFramePr>
          <p:cNvPr id="3" name="Table 2">
            <a:extLst>
              <a:ext uri="{FF2B5EF4-FFF2-40B4-BE49-F238E27FC236}">
                <a16:creationId xmlns:a16="http://schemas.microsoft.com/office/drawing/2014/main" id="{50937C45-9148-4DE8-7740-68D59ACFF29A}"/>
              </a:ext>
            </a:extLst>
          </p:cNvPr>
          <p:cNvGraphicFramePr>
            <a:graphicFrameLocks noGrp="1"/>
          </p:cNvGraphicFramePr>
          <p:nvPr>
            <p:extLst>
              <p:ext uri="{D42A27DB-BD31-4B8C-83A1-F6EECF244321}">
                <p14:modId xmlns:p14="http://schemas.microsoft.com/office/powerpoint/2010/main" val="1352109370"/>
              </p:ext>
            </p:extLst>
          </p:nvPr>
        </p:nvGraphicFramePr>
        <p:xfrm>
          <a:off x="1498711" y="3225849"/>
          <a:ext cx="6096000" cy="222504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4287197449"/>
                    </a:ext>
                  </a:extLst>
                </a:gridCol>
                <a:gridCol w="3048000">
                  <a:extLst>
                    <a:ext uri="{9D8B030D-6E8A-4147-A177-3AD203B41FA5}">
                      <a16:colId xmlns:a16="http://schemas.microsoft.com/office/drawing/2014/main" val="766293216"/>
                    </a:ext>
                  </a:extLst>
                </a:gridCol>
              </a:tblGrid>
              <a:tr h="370840">
                <a:tc>
                  <a:txBody>
                    <a:bodyPr/>
                    <a:lstStyle/>
                    <a:p>
                      <a:pPr algn="ctr"/>
                      <a:r>
                        <a:rPr lang="en-IN" dirty="0"/>
                        <a:t>Roll Number</a:t>
                      </a:r>
                    </a:p>
                  </a:txBody>
                  <a:tcPr/>
                </a:tc>
                <a:tc>
                  <a:txBody>
                    <a:bodyPr/>
                    <a:lstStyle/>
                    <a:p>
                      <a:pPr algn="ctr"/>
                      <a:r>
                        <a:rPr lang="en-IN" dirty="0"/>
                        <a:t>Name </a:t>
                      </a:r>
                    </a:p>
                  </a:txBody>
                  <a:tcPr/>
                </a:tc>
                <a:extLst>
                  <a:ext uri="{0D108BD9-81ED-4DB2-BD59-A6C34878D82A}">
                    <a16:rowId xmlns:a16="http://schemas.microsoft.com/office/drawing/2014/main" val="3266189266"/>
                  </a:ext>
                </a:extLst>
              </a:tr>
              <a:tr h="370840">
                <a:tc>
                  <a:txBody>
                    <a:bodyPr/>
                    <a:lstStyle/>
                    <a:p>
                      <a:pPr algn="ctr"/>
                      <a:r>
                        <a:rPr lang="en-IN" dirty="0"/>
                        <a:t>2301010289</a:t>
                      </a:r>
                    </a:p>
                  </a:txBody>
                  <a:tcPr/>
                </a:tc>
                <a:tc>
                  <a:txBody>
                    <a:bodyPr/>
                    <a:lstStyle/>
                    <a:p>
                      <a:pPr algn="ctr"/>
                      <a:r>
                        <a:rPr lang="en-IN" dirty="0"/>
                        <a:t>Vaibhav Vaid</a:t>
                      </a:r>
                    </a:p>
                  </a:txBody>
                  <a:tcPr/>
                </a:tc>
                <a:extLst>
                  <a:ext uri="{0D108BD9-81ED-4DB2-BD59-A6C34878D82A}">
                    <a16:rowId xmlns:a16="http://schemas.microsoft.com/office/drawing/2014/main" val="1754403507"/>
                  </a:ext>
                </a:extLst>
              </a:tr>
              <a:tr h="370840">
                <a:tc>
                  <a:txBody>
                    <a:bodyPr/>
                    <a:lstStyle/>
                    <a:p>
                      <a:pPr algn="ctr"/>
                      <a:r>
                        <a:rPr lang="en-IN" dirty="0"/>
                        <a:t>2301010282</a:t>
                      </a:r>
                    </a:p>
                  </a:txBody>
                  <a:tcPr/>
                </a:tc>
                <a:tc>
                  <a:txBody>
                    <a:bodyPr/>
                    <a:lstStyle/>
                    <a:p>
                      <a:pPr algn="ctr"/>
                      <a:r>
                        <a:rPr lang="en-IN" dirty="0"/>
                        <a:t>Adeela Azeez</a:t>
                      </a:r>
                    </a:p>
                  </a:txBody>
                  <a:tcPr/>
                </a:tc>
                <a:extLst>
                  <a:ext uri="{0D108BD9-81ED-4DB2-BD59-A6C34878D82A}">
                    <a16:rowId xmlns:a16="http://schemas.microsoft.com/office/drawing/2014/main" val="2707264299"/>
                  </a:ext>
                </a:extLst>
              </a:tr>
              <a:tr h="370840">
                <a:tc>
                  <a:txBody>
                    <a:bodyPr/>
                    <a:lstStyle/>
                    <a:p>
                      <a:pPr algn="ctr"/>
                      <a:r>
                        <a:rPr lang="en-IN" dirty="0"/>
                        <a:t>2301010300</a:t>
                      </a:r>
                    </a:p>
                  </a:txBody>
                  <a:tcPr/>
                </a:tc>
                <a:tc>
                  <a:txBody>
                    <a:bodyPr/>
                    <a:lstStyle/>
                    <a:p>
                      <a:pPr algn="ctr"/>
                      <a:r>
                        <a:rPr lang="en-IN" dirty="0"/>
                        <a:t>Himani Tyagi</a:t>
                      </a:r>
                    </a:p>
                  </a:txBody>
                  <a:tcPr/>
                </a:tc>
                <a:extLst>
                  <a:ext uri="{0D108BD9-81ED-4DB2-BD59-A6C34878D82A}">
                    <a16:rowId xmlns:a16="http://schemas.microsoft.com/office/drawing/2014/main" val="1764897572"/>
                  </a:ext>
                </a:extLst>
              </a:tr>
              <a:tr h="370840">
                <a:tc>
                  <a:txBody>
                    <a:bodyPr/>
                    <a:lstStyle/>
                    <a:p>
                      <a:pPr algn="ctr"/>
                      <a:r>
                        <a:rPr lang="en-IN" dirty="0"/>
                        <a:t>2301010293</a:t>
                      </a:r>
                    </a:p>
                  </a:txBody>
                  <a:tcPr/>
                </a:tc>
                <a:tc>
                  <a:txBody>
                    <a:bodyPr/>
                    <a:lstStyle/>
                    <a:p>
                      <a:pPr algn="ctr"/>
                      <a:r>
                        <a:rPr lang="en-IN" dirty="0"/>
                        <a:t>Ashutosh Singh</a:t>
                      </a:r>
                    </a:p>
                  </a:txBody>
                  <a:tcPr/>
                </a:tc>
                <a:extLst>
                  <a:ext uri="{0D108BD9-81ED-4DB2-BD59-A6C34878D82A}">
                    <a16:rowId xmlns:a16="http://schemas.microsoft.com/office/drawing/2014/main" val="4147241571"/>
                  </a:ext>
                </a:extLst>
              </a:tr>
              <a:tr h="370840">
                <a:tc>
                  <a:txBody>
                    <a:bodyPr/>
                    <a:lstStyle/>
                    <a:p>
                      <a:pPr algn="ctr"/>
                      <a:r>
                        <a:rPr lang="en-IN" dirty="0"/>
                        <a:t>2301010298</a:t>
                      </a:r>
                    </a:p>
                  </a:txBody>
                  <a:tcPr/>
                </a:tc>
                <a:tc>
                  <a:txBody>
                    <a:bodyPr/>
                    <a:lstStyle/>
                    <a:p>
                      <a:pPr algn="ctr"/>
                      <a:r>
                        <a:rPr lang="en-IN" dirty="0" err="1"/>
                        <a:t>Satdev</a:t>
                      </a:r>
                      <a:endParaRPr lang="en-IN" dirty="0"/>
                    </a:p>
                  </a:txBody>
                  <a:tcPr/>
                </a:tc>
                <a:extLst>
                  <a:ext uri="{0D108BD9-81ED-4DB2-BD59-A6C34878D82A}">
                    <a16:rowId xmlns:a16="http://schemas.microsoft.com/office/drawing/2014/main" val="423347955"/>
                  </a:ext>
                </a:extLst>
              </a:tr>
            </a:tbl>
          </a:graphicData>
        </a:graphic>
      </p:graphicFrame>
      <p:sp>
        <p:nvSpPr>
          <p:cNvPr id="9" name="TextBox 8">
            <a:extLst>
              <a:ext uri="{FF2B5EF4-FFF2-40B4-BE49-F238E27FC236}">
                <a16:creationId xmlns:a16="http://schemas.microsoft.com/office/drawing/2014/main" id="{D7BE9612-095D-482C-9F28-27095408CB14}"/>
              </a:ext>
            </a:extLst>
          </p:cNvPr>
          <p:cNvSpPr txBox="1"/>
          <p:nvPr/>
        </p:nvSpPr>
        <p:spPr>
          <a:xfrm>
            <a:off x="-926118" y="1535845"/>
            <a:ext cx="11070336" cy="461665"/>
          </a:xfrm>
          <a:prstGeom prst="rect">
            <a:avLst/>
          </a:prstGeom>
          <a:noFill/>
        </p:spPr>
        <p:txBody>
          <a:bodyPr wrap="square">
            <a:spAutoFit/>
          </a:bodyPr>
          <a:lstStyle/>
          <a:p>
            <a:pPr lvl="0" algn="ctr">
              <a:buSzPct val="25000"/>
            </a:pPr>
            <a:r>
              <a:rPr lang="en-US" sz="2400" b="1" dirty="0">
                <a:solidFill>
                  <a:srgbClr val="C00000"/>
                </a:solidFill>
                <a:latin typeface="Times New Roman" panose="02020603050405020304" pitchFamily="18" charset="0"/>
                <a:ea typeface="Verdana" panose="020B0604030504040204" pitchFamily="34" charset="0"/>
                <a:cs typeface="Verdana" panose="020B0604030504040204" pitchFamily="34" charset="0"/>
              </a:rPr>
              <a:t>Unified University Management &amp; Student Support Platform</a:t>
            </a:r>
            <a:endParaRPr lang="en-IN" sz="2400" b="1" dirty="0">
              <a:solidFill>
                <a:srgbClr val="C00000"/>
              </a:solidFill>
              <a:ea typeface="Cambria" panose="02040503050406030204" pitchFamily="18" charset="0"/>
              <a:cs typeface="Times New Roman" panose="02020603050405020304" pitchFamily="18" charset="0"/>
              <a:sym typeface="Arial"/>
            </a:endParaRPr>
          </a:p>
        </p:txBody>
      </p:sp>
    </p:spTree>
    <p:extLst>
      <p:ext uri="{BB962C8B-B14F-4D97-AF65-F5344CB8AC3E}">
        <p14:creationId xmlns:p14="http://schemas.microsoft.com/office/powerpoint/2010/main" val="41425364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179512" y="151593"/>
            <a:ext cx="415370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Project Overview</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4619854"/>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US" dirty="0"/>
              <a:t>Universities usually manage academics, student support, and administrative work using different systems or manual methods. Students often need to check notice boards, emails, or visit offices personally to get information about attendance, exams, results, or grievances. This makes the process slow and confusing for both students and staff.</a:t>
            </a:r>
          </a:p>
          <a:p>
            <a:pPr marL="285750" indent="-285750">
              <a:lnSpc>
                <a:spcPct val="150000"/>
              </a:lnSpc>
              <a:buFont typeface="Wingdings" panose="05000000000000000000" pitchFamily="2" charset="2"/>
              <a:buChar char="Ø"/>
            </a:pPr>
            <a:r>
              <a:rPr lang="en-US" dirty="0"/>
              <a:t>The </a:t>
            </a:r>
            <a:r>
              <a:rPr lang="en-US" b="1" dirty="0"/>
              <a:t>Unified University Management &amp; Student Support Platform</a:t>
            </a:r>
            <a:r>
              <a:rPr lang="en-US" dirty="0"/>
              <a:t> is developed to solve this problem by providing a single web-based system for all university-related activities. It brings students, faculty, and administrators onto one platform where academic information, requests, and communication can be managed easily.</a:t>
            </a:r>
          </a:p>
          <a:p>
            <a:pPr marL="285750" indent="-285750">
              <a:lnSpc>
                <a:spcPct val="150000"/>
              </a:lnSpc>
              <a:buFont typeface="Wingdings" panose="05000000000000000000" pitchFamily="2" charset="2"/>
              <a:buChar char="Ø"/>
            </a:pPr>
            <a:r>
              <a:rPr lang="en-US" dirty="0"/>
              <a:t>The system reduces manual work, improves transparency, and ensures faster communication. By using role-based access, each user gets only the features relevant to them, making the platform simple, secure, and efficient for daily university operations.</a:t>
            </a:r>
          </a:p>
        </p:txBody>
      </p:sp>
    </p:spTree>
    <p:extLst>
      <p:ext uri="{BB962C8B-B14F-4D97-AF65-F5344CB8AC3E}">
        <p14:creationId xmlns:p14="http://schemas.microsoft.com/office/powerpoint/2010/main" val="3353784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179512" y="151593"/>
            <a:ext cx="45432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Specific Objectives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Rectangle 2">
            <a:extLst>
              <a:ext uri="{FF2B5EF4-FFF2-40B4-BE49-F238E27FC236}">
                <a16:creationId xmlns:a16="http://schemas.microsoft.com/office/drawing/2014/main" id="{EF10F071-1C8A-45EA-8E7D-130E60B44C58}"/>
              </a:ext>
            </a:extLst>
          </p:cNvPr>
          <p:cNvSpPr/>
          <p:nvPr/>
        </p:nvSpPr>
        <p:spPr>
          <a:xfrm>
            <a:off x="395536" y="1356485"/>
            <a:ext cx="7488832" cy="2784737"/>
          </a:xfrm>
          <a:prstGeom prst="rect">
            <a:avLst/>
          </a:prstGeom>
        </p:spPr>
        <p:txBody>
          <a:bodyPr wrap="square">
            <a:spAutoFit/>
          </a:bodyPr>
          <a:lstStyle/>
          <a:p>
            <a:pPr marL="285750" indent="-285750">
              <a:lnSpc>
                <a:spcPct val="200000"/>
              </a:lnSpc>
              <a:buFont typeface="Wingdings" panose="05000000000000000000" pitchFamily="2" charset="2"/>
              <a:buChar char="Ø"/>
            </a:pPr>
            <a:r>
              <a:rPr lang="en-US" dirty="0"/>
              <a:t>To develop a centralized digital platform for academic management.</a:t>
            </a:r>
          </a:p>
          <a:p>
            <a:pPr marL="285750" indent="-285750">
              <a:lnSpc>
                <a:spcPct val="200000"/>
              </a:lnSpc>
              <a:buFont typeface="Wingdings" panose="05000000000000000000" pitchFamily="2" charset="2"/>
              <a:buChar char="Ø"/>
            </a:pPr>
            <a:r>
              <a:rPr lang="en-US" dirty="0"/>
              <a:t>To reduce manual and paper-based academic processes.</a:t>
            </a:r>
          </a:p>
          <a:p>
            <a:pPr marL="285750" indent="-285750">
              <a:lnSpc>
                <a:spcPct val="200000"/>
              </a:lnSpc>
              <a:buFont typeface="Wingdings" panose="05000000000000000000" pitchFamily="2" charset="2"/>
              <a:buChar char="Ø"/>
            </a:pPr>
            <a:r>
              <a:rPr lang="en-US" dirty="0"/>
              <a:t>To improve communication between students, faculty, and administrators.</a:t>
            </a:r>
          </a:p>
          <a:p>
            <a:pPr marL="285750" indent="-285750">
              <a:lnSpc>
                <a:spcPct val="200000"/>
              </a:lnSpc>
              <a:buFont typeface="Wingdings" panose="05000000000000000000" pitchFamily="2" charset="2"/>
              <a:buChar char="Ø"/>
            </a:pPr>
            <a:r>
              <a:rPr lang="en-US" dirty="0"/>
              <a:t>To ensure secure storage and retrieval of academic data.</a:t>
            </a:r>
          </a:p>
          <a:p>
            <a:pPr marL="285750" indent="-285750">
              <a:lnSpc>
                <a:spcPct val="200000"/>
              </a:lnSpc>
              <a:buFont typeface="Wingdings" panose="05000000000000000000" pitchFamily="2" charset="2"/>
              <a:buChar char="Ø"/>
            </a:pPr>
            <a:r>
              <a:rPr lang="en-US" dirty="0"/>
              <a:t>To provide a scalable and user-friendly system</a:t>
            </a:r>
            <a:endParaRPr lang="en-IN" dirty="0"/>
          </a:p>
        </p:txBody>
      </p:sp>
    </p:spTree>
    <p:extLst>
      <p:ext uri="{BB962C8B-B14F-4D97-AF65-F5344CB8AC3E}">
        <p14:creationId xmlns:p14="http://schemas.microsoft.com/office/powerpoint/2010/main" val="10473292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179512" y="151593"/>
            <a:ext cx="4392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Key Features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BEDDEA3E-5611-4B53-B9C6-13334A0291B2}"/>
              </a:ext>
            </a:extLst>
          </p:cNvPr>
          <p:cNvSpPr/>
          <p:nvPr/>
        </p:nvSpPr>
        <p:spPr>
          <a:xfrm>
            <a:off x="350914" y="1293834"/>
            <a:ext cx="8469558" cy="2784737"/>
          </a:xfrm>
          <a:prstGeom prst="rect">
            <a:avLst/>
          </a:prstGeom>
        </p:spPr>
        <p:txBody>
          <a:bodyPr wrap="square">
            <a:spAutoFit/>
          </a:bodyPr>
          <a:lstStyle/>
          <a:p>
            <a:pPr marL="285750" indent="-285750">
              <a:lnSpc>
                <a:spcPct val="200000"/>
              </a:lnSpc>
              <a:buFont typeface="Wingdings" panose="05000000000000000000" pitchFamily="2" charset="2"/>
              <a:buChar char="Ø"/>
            </a:pPr>
            <a:r>
              <a:rPr lang="en-IN" dirty="0"/>
              <a:t>Centralized student and faculty </a:t>
            </a:r>
            <a:r>
              <a:rPr lang="en-IN" dirty="0" err="1"/>
              <a:t>databaseRole</a:t>
            </a:r>
            <a:r>
              <a:rPr lang="en-IN" dirty="0"/>
              <a:t>-based access (Student, Faculty, Admin)</a:t>
            </a:r>
          </a:p>
          <a:p>
            <a:pPr marL="285750" indent="-285750">
              <a:lnSpc>
                <a:spcPct val="200000"/>
              </a:lnSpc>
              <a:buFont typeface="Wingdings" panose="05000000000000000000" pitchFamily="2" charset="2"/>
              <a:buChar char="Ø"/>
            </a:pPr>
            <a:r>
              <a:rPr lang="en-IN" dirty="0"/>
              <a:t>Academic notices and announcements</a:t>
            </a:r>
          </a:p>
          <a:p>
            <a:pPr marL="285750" indent="-285750">
              <a:lnSpc>
                <a:spcPct val="200000"/>
              </a:lnSpc>
              <a:buFont typeface="Wingdings" panose="05000000000000000000" pitchFamily="2" charset="2"/>
              <a:buChar char="Ø"/>
            </a:pPr>
            <a:r>
              <a:rPr lang="en-IN" dirty="0"/>
              <a:t>Course and academic record management</a:t>
            </a:r>
          </a:p>
          <a:p>
            <a:pPr marL="285750" indent="-285750">
              <a:lnSpc>
                <a:spcPct val="200000"/>
              </a:lnSpc>
              <a:buFont typeface="Wingdings" panose="05000000000000000000" pitchFamily="2" charset="2"/>
              <a:buChar char="Ø"/>
            </a:pPr>
            <a:r>
              <a:rPr lang="en-IN" dirty="0"/>
              <a:t>Secure login and data handling</a:t>
            </a:r>
          </a:p>
          <a:p>
            <a:pPr marL="285750" indent="-285750">
              <a:lnSpc>
                <a:spcPct val="200000"/>
              </a:lnSpc>
              <a:buFont typeface="Wingdings" panose="05000000000000000000" pitchFamily="2" charset="2"/>
              <a:buChar char="Ø"/>
            </a:pPr>
            <a:r>
              <a:rPr lang="en-IN" dirty="0"/>
              <a:t>Web-based, easy-to-use interface</a:t>
            </a:r>
          </a:p>
        </p:txBody>
      </p:sp>
    </p:spTree>
    <p:extLst>
      <p:ext uri="{BB962C8B-B14F-4D97-AF65-F5344CB8AC3E}">
        <p14:creationId xmlns:p14="http://schemas.microsoft.com/office/powerpoint/2010/main" val="957423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104168" y="244288"/>
            <a:ext cx="772358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buSzPct val="25000"/>
            </a:pPr>
            <a:r>
              <a:rPr lang="en-IN" sz="3200" b="1" kern="100" dirty="0">
                <a:latin typeface="Verdana" panose="020B0604030504040204" pitchFamily="34" charset="0"/>
                <a:cs typeface="Times New Roman" panose="02020603050405020304" pitchFamily="18" charset="0"/>
              </a:rPr>
              <a:t>Proposed System Improvements</a:t>
            </a:r>
            <a:endParaRPr lang="en-IN" sz="3200" b="1" kern="100" dirty="0">
              <a:latin typeface="Verdana" panose="020B0604030504040204" pitchFamily="34" charset="0"/>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2FFCF953-2FB1-4C4F-8018-F5E330698786}"/>
              </a:ext>
            </a:extLst>
          </p:cNvPr>
          <p:cNvSpPr/>
          <p:nvPr/>
        </p:nvSpPr>
        <p:spPr>
          <a:xfrm>
            <a:off x="22413" y="1220635"/>
            <a:ext cx="8568952" cy="3759491"/>
          </a:xfrm>
          <a:prstGeom prst="rect">
            <a:avLst/>
          </a:prstGeom>
        </p:spPr>
        <p:txBody>
          <a:bodyPr wrap="square">
            <a:spAutoFit/>
          </a:bodyPr>
          <a:lstStyle/>
          <a:p>
            <a:pPr marL="342900" lvl="0" indent="-342900">
              <a:lnSpc>
                <a:spcPct val="107000"/>
              </a:lnSpc>
              <a:spcAft>
                <a:spcPts val="800"/>
              </a:spcAft>
              <a:buSzPts val="1000"/>
              <a:buFont typeface="Symbol" panose="05050102010706020507" pitchFamily="18" charset="2"/>
              <a:buChar char=""/>
              <a:tabLst>
                <a:tab pos="457200" algn="l"/>
              </a:tabLst>
            </a:pPr>
            <a:r>
              <a:rPr lang="en-IN" kern="100" dirty="0">
                <a:latin typeface="Times New Roman" panose="02020603050405020304" pitchFamily="18" charset="0"/>
                <a:ea typeface="Calibri" panose="020F0502020204030204" pitchFamily="34" charset="0"/>
                <a:cs typeface="Times New Roman" panose="02020603050405020304" pitchFamily="18" charset="0"/>
              </a:rPr>
              <a:t>Provides a </a:t>
            </a:r>
            <a:r>
              <a:rPr lang="en-IN" b="1" kern="100" dirty="0">
                <a:latin typeface="Times New Roman" panose="02020603050405020304" pitchFamily="18" charset="0"/>
                <a:ea typeface="Calibri" panose="020F0502020204030204" pitchFamily="34" charset="0"/>
                <a:cs typeface="Times New Roman" panose="02020603050405020304" pitchFamily="18" charset="0"/>
              </a:rPr>
              <a:t>centralized web-based platform</a:t>
            </a:r>
            <a:r>
              <a:rPr lang="en-IN" kern="100" dirty="0">
                <a:latin typeface="Times New Roman" panose="02020603050405020304" pitchFamily="18" charset="0"/>
                <a:ea typeface="Calibri" panose="020F0502020204030204" pitchFamily="34" charset="0"/>
                <a:cs typeface="Times New Roman" panose="02020603050405020304" pitchFamily="18" charset="0"/>
              </a:rPr>
              <a:t> integrating academic and student support services.</a:t>
            </a:r>
            <a:endParaRPr lang="en-IN" sz="1200" kern="1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kern="100" dirty="0">
                <a:latin typeface="Times New Roman" panose="02020603050405020304" pitchFamily="18" charset="0"/>
                <a:ea typeface="Calibri" panose="020F0502020204030204" pitchFamily="34" charset="0"/>
                <a:cs typeface="Times New Roman" panose="02020603050405020304" pitchFamily="18" charset="0"/>
              </a:rPr>
              <a:t>Ensures </a:t>
            </a:r>
            <a:r>
              <a:rPr lang="en-IN" b="1" kern="100" dirty="0">
                <a:latin typeface="Times New Roman" panose="02020603050405020304" pitchFamily="18" charset="0"/>
                <a:ea typeface="Calibri" panose="020F0502020204030204" pitchFamily="34" charset="0"/>
                <a:cs typeface="Times New Roman" panose="02020603050405020304" pitchFamily="18" charset="0"/>
              </a:rPr>
              <a:t>real-time access</a:t>
            </a:r>
            <a:r>
              <a:rPr lang="en-IN" kern="100" dirty="0">
                <a:latin typeface="Times New Roman" panose="02020603050405020304" pitchFamily="18" charset="0"/>
                <a:ea typeface="Calibri" panose="020F0502020204030204" pitchFamily="34" charset="0"/>
                <a:cs typeface="Times New Roman" panose="02020603050405020304" pitchFamily="18" charset="0"/>
              </a:rPr>
              <a:t> to attendance, examination records, results, and notifications.</a:t>
            </a:r>
            <a:endParaRPr lang="en-IN" sz="1200" kern="1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kern="100" dirty="0">
                <a:latin typeface="Times New Roman" panose="02020603050405020304" pitchFamily="18" charset="0"/>
                <a:ea typeface="Calibri" panose="020F0502020204030204" pitchFamily="34" charset="0"/>
                <a:cs typeface="Times New Roman" panose="02020603050405020304" pitchFamily="18" charset="0"/>
              </a:rPr>
              <a:t>Implements </a:t>
            </a:r>
            <a:r>
              <a:rPr lang="en-IN" b="1" kern="100" dirty="0">
                <a:latin typeface="Times New Roman" panose="02020603050405020304" pitchFamily="18" charset="0"/>
                <a:ea typeface="Calibri" panose="020F0502020204030204" pitchFamily="34" charset="0"/>
                <a:cs typeface="Times New Roman" panose="02020603050405020304" pitchFamily="18" charset="0"/>
              </a:rPr>
              <a:t>role-based access control (RBAC)</a:t>
            </a:r>
            <a:r>
              <a:rPr lang="en-IN" kern="100" dirty="0">
                <a:latin typeface="Times New Roman" panose="02020603050405020304" pitchFamily="18" charset="0"/>
                <a:ea typeface="Calibri" panose="020F0502020204030204" pitchFamily="34" charset="0"/>
                <a:cs typeface="Times New Roman" panose="02020603050405020304" pitchFamily="18" charset="0"/>
              </a:rPr>
              <a:t> for students, faculty, and administrators.</a:t>
            </a:r>
            <a:endParaRPr lang="en-IN" sz="1200" kern="1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kern="100" dirty="0">
                <a:latin typeface="Times New Roman" panose="02020603050405020304" pitchFamily="18" charset="0"/>
                <a:ea typeface="Calibri" panose="020F0502020204030204" pitchFamily="34" charset="0"/>
                <a:cs typeface="Times New Roman" panose="02020603050405020304" pitchFamily="18" charset="0"/>
              </a:rPr>
              <a:t>Enables </a:t>
            </a:r>
            <a:r>
              <a:rPr lang="en-IN" b="1" kern="100" dirty="0">
                <a:latin typeface="Times New Roman" panose="02020603050405020304" pitchFamily="18" charset="0"/>
                <a:ea typeface="Calibri" panose="020F0502020204030204" pitchFamily="34" charset="0"/>
                <a:cs typeface="Times New Roman" panose="02020603050405020304" pitchFamily="18" charset="0"/>
              </a:rPr>
              <a:t>online grievance submission and tracking</a:t>
            </a:r>
            <a:r>
              <a:rPr lang="en-IN" kern="100" dirty="0">
                <a:latin typeface="Times New Roman" panose="02020603050405020304" pitchFamily="18" charset="0"/>
                <a:ea typeface="Calibri" panose="020F0502020204030204" pitchFamily="34" charset="0"/>
                <a:cs typeface="Times New Roman" panose="02020603050405020304" pitchFamily="18" charset="0"/>
              </a:rPr>
              <a:t>, improving transparency.</a:t>
            </a:r>
            <a:endParaRPr lang="en-IN" sz="1200" kern="1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kern="100" dirty="0">
                <a:latin typeface="Times New Roman" panose="02020603050405020304" pitchFamily="18" charset="0"/>
                <a:ea typeface="Calibri" panose="020F0502020204030204" pitchFamily="34" charset="0"/>
                <a:cs typeface="Times New Roman" panose="02020603050405020304" pitchFamily="18" charset="0"/>
              </a:rPr>
              <a:t>Automates attendance management, marks entry, and report generation.</a:t>
            </a:r>
            <a:endParaRPr lang="en-IN" sz="1200" kern="1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kern="100" dirty="0">
                <a:latin typeface="Times New Roman" panose="02020603050405020304" pitchFamily="18" charset="0"/>
                <a:ea typeface="Calibri" panose="020F0502020204030204" pitchFamily="34" charset="0"/>
                <a:cs typeface="Times New Roman" panose="02020603050405020304" pitchFamily="18" charset="0"/>
              </a:rPr>
              <a:t>Reduces manual workload and improves </a:t>
            </a:r>
            <a:r>
              <a:rPr lang="en-IN" b="1" kern="100" dirty="0">
                <a:latin typeface="Times New Roman" panose="02020603050405020304" pitchFamily="18" charset="0"/>
                <a:ea typeface="Calibri" panose="020F0502020204030204" pitchFamily="34" charset="0"/>
                <a:cs typeface="Times New Roman" panose="02020603050405020304" pitchFamily="18" charset="0"/>
              </a:rPr>
              <a:t>operational efficiency</a:t>
            </a:r>
            <a:r>
              <a:rPr lang="en-IN" kern="100" dirty="0">
                <a:latin typeface="Times New Roman" panose="02020603050405020304" pitchFamily="18" charset="0"/>
                <a:ea typeface="Calibri" panose="020F0502020204030204" pitchFamily="34" charset="0"/>
                <a:cs typeface="Times New Roman" panose="02020603050405020304" pitchFamily="18" charset="0"/>
              </a:rPr>
              <a:t>.</a:t>
            </a:r>
            <a:endParaRPr lang="en-IN" sz="1200" kern="1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kern="100" dirty="0">
                <a:latin typeface="Times New Roman" panose="02020603050405020304" pitchFamily="18" charset="0"/>
                <a:ea typeface="Calibri" panose="020F0502020204030204" pitchFamily="34" charset="0"/>
                <a:cs typeface="Times New Roman" panose="02020603050405020304" pitchFamily="18" charset="0"/>
              </a:rPr>
              <a:t>Maintains a </a:t>
            </a:r>
            <a:r>
              <a:rPr lang="en-IN" b="1" kern="100" dirty="0">
                <a:latin typeface="Times New Roman" panose="02020603050405020304" pitchFamily="18" charset="0"/>
                <a:ea typeface="Calibri" panose="020F0502020204030204" pitchFamily="34" charset="0"/>
                <a:cs typeface="Times New Roman" panose="02020603050405020304" pitchFamily="18" charset="0"/>
              </a:rPr>
              <a:t>centralized and secure database</a:t>
            </a:r>
            <a:r>
              <a:rPr lang="en-IN" kern="100" dirty="0">
                <a:latin typeface="Times New Roman" panose="02020603050405020304" pitchFamily="18" charset="0"/>
                <a:ea typeface="Calibri" panose="020F0502020204030204" pitchFamily="34" charset="0"/>
                <a:cs typeface="Times New Roman" panose="02020603050405020304" pitchFamily="18" charset="0"/>
              </a:rPr>
              <a:t> for data consistency and integrity.</a:t>
            </a:r>
            <a:endParaRPr lang="en-IN" sz="1200" kern="1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kern="100" dirty="0">
                <a:latin typeface="Times New Roman" panose="02020603050405020304" pitchFamily="18" charset="0"/>
                <a:ea typeface="Calibri" panose="020F0502020204030204" pitchFamily="34" charset="0"/>
                <a:cs typeface="Times New Roman" panose="02020603050405020304" pitchFamily="18" charset="0"/>
              </a:rPr>
              <a:t>Uses </a:t>
            </a:r>
            <a:r>
              <a:rPr lang="en-IN" b="1" kern="100" dirty="0">
                <a:latin typeface="Times New Roman" panose="02020603050405020304" pitchFamily="18" charset="0"/>
                <a:ea typeface="Calibri" panose="020F0502020204030204" pitchFamily="34" charset="0"/>
                <a:cs typeface="Times New Roman" panose="02020603050405020304" pitchFamily="18" charset="0"/>
              </a:rPr>
              <a:t>secure authentication mechanisms (JWT)</a:t>
            </a:r>
            <a:r>
              <a:rPr lang="en-IN" kern="100" dirty="0">
                <a:latin typeface="Times New Roman" panose="02020603050405020304" pitchFamily="18" charset="0"/>
                <a:ea typeface="Calibri" panose="020F0502020204030204" pitchFamily="34" charset="0"/>
                <a:cs typeface="Times New Roman" panose="02020603050405020304" pitchFamily="18" charset="0"/>
              </a:rPr>
              <a:t> to protect sensitive information.</a:t>
            </a:r>
            <a:endParaRPr lang="en-IN" sz="12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126272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179512" y="151593"/>
            <a:ext cx="611738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Project </a:t>
            </a:r>
            <a:r>
              <a:rPr lang="en-US" sz="3200" b="1" kern="100" dirty="0" err="1">
                <a:effectLst/>
                <a:latin typeface="Verdana" panose="020B0604030504040204" pitchFamily="34" charset="0"/>
                <a:ea typeface="Times New Roman" panose="02020603050405020304" pitchFamily="18" charset="0"/>
                <a:cs typeface="Times New Roman" panose="02020603050405020304" pitchFamily="18" charset="0"/>
              </a:rPr>
              <a:t>Usecases</a:t>
            </a: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 &amp; Scope</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8" name="Rectangle 7">
            <a:extLst>
              <a:ext uri="{FF2B5EF4-FFF2-40B4-BE49-F238E27FC236}">
                <a16:creationId xmlns:a16="http://schemas.microsoft.com/office/drawing/2014/main" id="{D7B925CC-F8F9-4D8D-A84D-AA0983B27A25}"/>
              </a:ext>
            </a:extLst>
          </p:cNvPr>
          <p:cNvSpPr/>
          <p:nvPr/>
        </p:nvSpPr>
        <p:spPr>
          <a:xfrm>
            <a:off x="179512" y="1136276"/>
            <a:ext cx="7992888" cy="4769447"/>
          </a:xfrm>
          <a:prstGeom prst="rect">
            <a:avLst/>
          </a:prstGeom>
        </p:spPr>
        <p:txBody>
          <a:bodyPr wrap="square">
            <a:spAutoFit/>
          </a:bodyPr>
          <a:lstStyle/>
          <a:p>
            <a:pPr>
              <a:lnSpc>
                <a:spcPct val="107000"/>
              </a:lnSpc>
              <a:spcAft>
                <a:spcPts val="800"/>
              </a:spcAft>
            </a:pPr>
            <a:r>
              <a:rPr lang="en-IN" b="1" kern="100" dirty="0">
                <a:latin typeface="Times New Roman" panose="02020603050405020304" pitchFamily="18" charset="0"/>
                <a:ea typeface="Calibri" panose="020F0502020204030204" pitchFamily="34" charset="0"/>
                <a:cs typeface="Times New Roman" panose="02020603050405020304" pitchFamily="18" charset="0"/>
              </a:rPr>
              <a:t>Use Cases for Students-</a:t>
            </a:r>
          </a:p>
          <a:p>
            <a:pPr marL="285750" indent="-285750">
              <a:lnSpc>
                <a:spcPct val="107000"/>
              </a:lnSpc>
              <a:spcAft>
                <a:spcPts val="800"/>
              </a:spcAft>
              <a:buFont typeface="Wingdings" panose="05000000000000000000" pitchFamily="2" charset="2"/>
              <a:buChar char="ü"/>
            </a:pPr>
            <a:r>
              <a:rPr lang="en-IN" sz="1400" kern="100" dirty="0">
                <a:latin typeface="Times New Roman" panose="02020603050405020304" pitchFamily="18" charset="0"/>
                <a:ea typeface="Calibri" panose="020F0502020204030204" pitchFamily="34" charset="0"/>
                <a:cs typeface="Times New Roman" panose="02020603050405020304" pitchFamily="18" charset="0"/>
              </a:rPr>
              <a:t>Secure login and user registration</a:t>
            </a:r>
            <a:endParaRPr lang="en-IN" sz="1400" kern="100" dirty="0">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Wingdings" panose="05000000000000000000" pitchFamily="2" charset="2"/>
              <a:buChar char="ü"/>
            </a:pPr>
            <a:r>
              <a:rPr lang="en-IN" sz="1400" kern="100" dirty="0">
                <a:latin typeface="Times New Roman" panose="02020603050405020304" pitchFamily="18" charset="0"/>
                <a:ea typeface="Calibri" panose="020F0502020204030204" pitchFamily="34" charset="0"/>
                <a:cs typeface="Times New Roman" panose="02020603050405020304" pitchFamily="18" charset="0"/>
              </a:rPr>
              <a:t>Review and edit your personal profile.</a:t>
            </a:r>
            <a:endParaRPr lang="en-IN" sz="1400" kern="100" dirty="0">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Wingdings" panose="05000000000000000000" pitchFamily="2" charset="2"/>
              <a:buChar char="ü"/>
            </a:pPr>
            <a:r>
              <a:rPr lang="en-IN" sz="1400" kern="100" dirty="0">
                <a:latin typeface="Times New Roman" panose="02020603050405020304" pitchFamily="18" charset="0"/>
                <a:ea typeface="Calibri" panose="020F0502020204030204" pitchFamily="34" charset="0"/>
                <a:cs typeface="Times New Roman" panose="02020603050405020304" pitchFamily="18" charset="0"/>
              </a:rPr>
              <a:t>Analyze both overall and subject-specific attendance.</a:t>
            </a:r>
            <a:endParaRPr lang="en-IN" sz="1400" kern="100" dirty="0">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Wingdings" panose="05000000000000000000" pitchFamily="2" charset="2"/>
              <a:buChar char="ü"/>
            </a:pPr>
            <a:r>
              <a:rPr lang="en-IN" sz="1400" kern="100" dirty="0">
                <a:latin typeface="Times New Roman" panose="02020603050405020304" pitchFamily="18" charset="0"/>
                <a:ea typeface="Calibri" panose="020F0502020204030204" pitchFamily="34" charset="0"/>
                <a:cs typeface="Times New Roman" panose="02020603050405020304" pitchFamily="18" charset="0"/>
              </a:rPr>
              <a:t>View the schedule and exam results.</a:t>
            </a:r>
            <a:endParaRPr lang="en-IN" sz="1400" kern="100" dirty="0">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Wingdings" panose="05000000000000000000" pitchFamily="2" charset="2"/>
              <a:buChar char="ü"/>
            </a:pPr>
            <a:r>
              <a:rPr lang="en-IN" sz="1400" kern="100" dirty="0">
                <a:latin typeface="Times New Roman" panose="02020603050405020304" pitchFamily="18" charset="0"/>
                <a:ea typeface="Calibri" panose="020F0502020204030204" pitchFamily="34" charset="0"/>
                <a:cs typeface="Times New Roman" panose="02020603050405020304" pitchFamily="18" charset="0"/>
              </a:rPr>
              <a:t>Receive notifications and announcements</a:t>
            </a:r>
            <a:endParaRPr lang="en-IN" sz="1400" kern="100" dirty="0">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Wingdings" panose="05000000000000000000" pitchFamily="2" charset="2"/>
              <a:buChar char="ü"/>
            </a:pPr>
            <a:r>
              <a:rPr lang="en-IN" sz="1400" kern="100" dirty="0">
                <a:latin typeface="Times New Roman" panose="02020603050405020304" pitchFamily="18" charset="0"/>
                <a:ea typeface="Calibri" panose="020F0502020204030204" pitchFamily="34" charset="0"/>
                <a:cs typeface="Times New Roman" panose="02020603050405020304" pitchFamily="18" charset="0"/>
              </a:rPr>
              <a:t>File complaints and monitor their progress</a:t>
            </a:r>
            <a:endParaRPr lang="en-IN" sz="1400" kern="100" dirty="0">
              <a:latin typeface="Calibri" panose="020F0502020204030204" pitchFamily="34" charset="0"/>
              <a:ea typeface="Calibri" panose="020F0502020204030204" pitchFamily="34" charset="0"/>
              <a:cs typeface="Times New Roman" panose="02020603050405020304" pitchFamily="18" charset="0"/>
            </a:endParaRPr>
          </a:p>
          <a:p>
            <a:pPr marL="285750" indent="-285750">
              <a:lnSpc>
                <a:spcPct val="107000"/>
              </a:lnSpc>
              <a:spcAft>
                <a:spcPts val="800"/>
              </a:spcAft>
              <a:buFont typeface="Wingdings" panose="05000000000000000000" pitchFamily="2" charset="2"/>
              <a:buChar char="ü"/>
            </a:pPr>
            <a:r>
              <a:rPr lang="en-IN" sz="1400" kern="100" dirty="0">
                <a:latin typeface="Times New Roman" panose="02020603050405020304" pitchFamily="18" charset="0"/>
                <a:ea typeface="Calibri" panose="020F0502020204030204" pitchFamily="34" charset="0"/>
                <a:cs typeface="Times New Roman" panose="02020603050405020304" pitchFamily="18" charset="0"/>
              </a:rPr>
              <a:t>Seek guidance and mentorship for your studies</a:t>
            </a:r>
            <a:endParaRPr lang="en-IN" sz="1400"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b="1" kern="100" dirty="0">
                <a:latin typeface="Times New Roman" panose="02020603050405020304" pitchFamily="18" charset="0"/>
                <a:ea typeface="Calibri" panose="020F0502020204030204" pitchFamily="34" charset="0"/>
                <a:cs typeface="Times New Roman" panose="02020603050405020304" pitchFamily="18" charset="0"/>
              </a:rPr>
              <a:t>Faculty Use Cases-</a:t>
            </a:r>
          </a:p>
          <a:p>
            <a:pPr marL="285750" indent="-285750">
              <a:lnSpc>
                <a:spcPct val="107000"/>
              </a:lnSpc>
              <a:spcAft>
                <a:spcPts val="800"/>
              </a:spcAft>
              <a:buFont typeface="Wingdings" panose="05000000000000000000" pitchFamily="2" charset="2"/>
              <a:buChar char="ü"/>
            </a:pPr>
            <a:r>
              <a:rPr lang="en-IN" sz="1400" kern="100" dirty="0">
                <a:latin typeface="Times New Roman" panose="02020603050405020304" pitchFamily="18" charset="0"/>
                <a:ea typeface="Calibri" panose="020F0502020204030204" pitchFamily="34" charset="0"/>
                <a:cs typeface="Times New Roman" panose="02020603050405020304" pitchFamily="18" charset="0"/>
              </a:rPr>
              <a:t>Secure faculty login</a:t>
            </a:r>
          </a:p>
          <a:p>
            <a:pPr marL="285750" indent="-285750">
              <a:lnSpc>
                <a:spcPct val="107000"/>
              </a:lnSpc>
              <a:spcAft>
                <a:spcPts val="800"/>
              </a:spcAft>
              <a:buFont typeface="Wingdings" panose="05000000000000000000" pitchFamily="2" charset="2"/>
              <a:buChar char="ü"/>
            </a:pPr>
            <a:r>
              <a:rPr lang="en-IN" sz="1400" kern="100" dirty="0">
                <a:latin typeface="Times New Roman" panose="02020603050405020304" pitchFamily="18" charset="0"/>
                <a:ea typeface="Calibri" panose="020F0502020204030204" pitchFamily="34" charset="0"/>
                <a:cs typeface="Times New Roman" panose="02020603050405020304" pitchFamily="18" charset="0"/>
              </a:rPr>
              <a:t>Monitor and supervise student attendance</a:t>
            </a:r>
          </a:p>
          <a:p>
            <a:pPr marL="285750" indent="-285750">
              <a:lnSpc>
                <a:spcPct val="107000"/>
              </a:lnSpc>
              <a:spcAft>
                <a:spcPts val="800"/>
              </a:spcAft>
              <a:buFont typeface="Wingdings" panose="05000000000000000000" pitchFamily="2" charset="2"/>
              <a:buChar char="ü"/>
            </a:pPr>
            <a:r>
              <a:rPr lang="en-IN" sz="1400" kern="100" dirty="0">
                <a:latin typeface="Times New Roman" panose="02020603050405020304" pitchFamily="18" charset="0"/>
                <a:ea typeface="Calibri" panose="020F0502020204030204" pitchFamily="34" charset="0"/>
                <a:cs typeface="Times New Roman" panose="02020603050405020304" pitchFamily="18" charset="0"/>
              </a:rPr>
              <a:t>Upload grades and internal marks</a:t>
            </a:r>
          </a:p>
          <a:p>
            <a:pPr marL="285750" indent="-285750">
              <a:lnSpc>
                <a:spcPct val="107000"/>
              </a:lnSpc>
              <a:spcAft>
                <a:spcPts val="800"/>
              </a:spcAft>
              <a:buFont typeface="Wingdings" panose="05000000000000000000" pitchFamily="2" charset="2"/>
              <a:buChar char="ü"/>
            </a:pPr>
            <a:r>
              <a:rPr lang="en-IN" sz="1400" kern="100" dirty="0">
                <a:latin typeface="Times New Roman" panose="02020603050405020304" pitchFamily="18" charset="0"/>
                <a:ea typeface="Calibri" panose="020F0502020204030204" pitchFamily="34" charset="0"/>
                <a:cs typeface="Times New Roman" panose="02020603050405020304" pitchFamily="18" charset="0"/>
              </a:rPr>
              <a:t>View student academic performance</a:t>
            </a:r>
          </a:p>
          <a:p>
            <a:pPr marL="285750" indent="-285750">
              <a:lnSpc>
                <a:spcPct val="107000"/>
              </a:lnSpc>
              <a:spcAft>
                <a:spcPts val="800"/>
              </a:spcAft>
              <a:buFont typeface="Wingdings" panose="05000000000000000000" pitchFamily="2" charset="2"/>
              <a:buChar char="ü"/>
            </a:pPr>
            <a:r>
              <a:rPr lang="en-IN" sz="1400" kern="100" dirty="0">
                <a:latin typeface="Times New Roman" panose="02020603050405020304" pitchFamily="18" charset="0"/>
                <a:ea typeface="Calibri" panose="020F0502020204030204" pitchFamily="34" charset="0"/>
                <a:cs typeface="Times New Roman" panose="02020603050405020304" pitchFamily="18" charset="0"/>
              </a:rPr>
              <a:t>Respond to student requests and grievances</a:t>
            </a:r>
          </a:p>
        </p:txBody>
      </p:sp>
    </p:spTree>
    <p:extLst>
      <p:ext uri="{BB962C8B-B14F-4D97-AF65-F5344CB8AC3E}">
        <p14:creationId xmlns:p14="http://schemas.microsoft.com/office/powerpoint/2010/main" val="32958122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179512" y="151593"/>
            <a:ext cx="611738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Project </a:t>
            </a:r>
            <a:r>
              <a:rPr lang="en-US" sz="3200" b="1" kern="100" dirty="0" err="1">
                <a:effectLst/>
                <a:latin typeface="Verdana" panose="020B0604030504040204" pitchFamily="34" charset="0"/>
                <a:ea typeface="Times New Roman" panose="02020603050405020304" pitchFamily="18" charset="0"/>
                <a:cs typeface="Times New Roman" panose="02020603050405020304" pitchFamily="18" charset="0"/>
              </a:rPr>
              <a:t>Usecases</a:t>
            </a: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 &amp; Scope</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8" name="Rectangle 7">
            <a:extLst>
              <a:ext uri="{FF2B5EF4-FFF2-40B4-BE49-F238E27FC236}">
                <a16:creationId xmlns:a16="http://schemas.microsoft.com/office/drawing/2014/main" id="{D7B925CC-F8F9-4D8D-A84D-AA0983B27A25}"/>
              </a:ext>
            </a:extLst>
          </p:cNvPr>
          <p:cNvSpPr/>
          <p:nvPr/>
        </p:nvSpPr>
        <p:spPr>
          <a:xfrm>
            <a:off x="179512" y="1277745"/>
            <a:ext cx="7992888" cy="2710229"/>
          </a:xfrm>
          <a:prstGeom prst="rect">
            <a:avLst/>
          </a:prstGeom>
        </p:spPr>
        <p:txBody>
          <a:bodyPr wrap="square">
            <a:spAutoFit/>
          </a:bodyPr>
          <a:lstStyle/>
          <a:p>
            <a:pPr>
              <a:lnSpc>
                <a:spcPct val="107000"/>
              </a:lnSpc>
              <a:spcAft>
                <a:spcPts val="800"/>
              </a:spcAft>
            </a:pPr>
            <a:r>
              <a:rPr lang="en-IN" b="1" kern="100" dirty="0">
                <a:latin typeface="Times New Roman" panose="02020603050405020304" pitchFamily="18" charset="0"/>
                <a:ea typeface="Calibri" panose="020F0502020204030204" pitchFamily="34" charset="0"/>
                <a:cs typeface="Times New Roman" panose="02020603050405020304" pitchFamily="18" charset="0"/>
              </a:rPr>
              <a:t>Use Cases for Administrators:</a:t>
            </a:r>
          </a:p>
          <a:p>
            <a:pPr marL="285750" indent="-285750">
              <a:lnSpc>
                <a:spcPct val="107000"/>
              </a:lnSpc>
              <a:spcAft>
                <a:spcPts val="800"/>
              </a:spcAft>
              <a:buFont typeface="Wingdings" panose="05000000000000000000" pitchFamily="2" charset="2"/>
              <a:buChar char="ü"/>
            </a:pPr>
            <a:r>
              <a:rPr lang="en-IN" sz="1400" kern="100" dirty="0">
                <a:latin typeface="Times New Roman" panose="02020603050405020304" pitchFamily="18" charset="0"/>
                <a:ea typeface="Calibri" panose="020F0502020204030204" pitchFamily="34" charset="0"/>
                <a:cs typeface="Times New Roman" panose="02020603050405020304" pitchFamily="18" charset="0"/>
              </a:rPr>
              <a:t>Verification of safe administrators</a:t>
            </a:r>
          </a:p>
          <a:p>
            <a:pPr marL="285750" indent="-285750">
              <a:lnSpc>
                <a:spcPct val="107000"/>
              </a:lnSpc>
              <a:spcAft>
                <a:spcPts val="800"/>
              </a:spcAft>
              <a:buFont typeface="Wingdings" panose="05000000000000000000" pitchFamily="2" charset="2"/>
              <a:buChar char="ü"/>
            </a:pPr>
            <a:r>
              <a:rPr lang="en-IN" sz="1400" kern="100" dirty="0">
                <a:latin typeface="Times New Roman" panose="02020603050405020304" pitchFamily="18" charset="0"/>
                <a:ea typeface="Calibri" panose="020F0502020204030204" pitchFamily="34" charset="0"/>
                <a:cs typeface="Times New Roman" panose="02020603050405020304" pitchFamily="18" charset="0"/>
              </a:rPr>
              <a:t>Control roles and users</a:t>
            </a:r>
          </a:p>
          <a:p>
            <a:pPr marL="285750" indent="-285750">
              <a:lnSpc>
                <a:spcPct val="107000"/>
              </a:lnSpc>
              <a:spcAft>
                <a:spcPts val="800"/>
              </a:spcAft>
              <a:buFont typeface="Wingdings" panose="05000000000000000000" pitchFamily="2" charset="2"/>
              <a:buChar char="ü"/>
            </a:pPr>
            <a:r>
              <a:rPr lang="en-IN" sz="1400" kern="100" dirty="0">
                <a:latin typeface="Times New Roman" panose="02020603050405020304" pitchFamily="18" charset="0"/>
                <a:ea typeface="Calibri" panose="020F0502020204030204" pitchFamily="34" charset="0"/>
                <a:cs typeface="Times New Roman" panose="02020603050405020304" pitchFamily="18" charset="0"/>
              </a:rPr>
              <a:t>Make academic announcements and bulletins public.</a:t>
            </a:r>
          </a:p>
          <a:p>
            <a:pPr marL="285750" indent="-285750">
              <a:lnSpc>
                <a:spcPct val="107000"/>
              </a:lnSpc>
              <a:spcAft>
                <a:spcPts val="800"/>
              </a:spcAft>
              <a:buFont typeface="Wingdings" panose="05000000000000000000" pitchFamily="2" charset="2"/>
              <a:buChar char="ü"/>
            </a:pPr>
            <a:r>
              <a:rPr lang="en-IN" sz="1400" kern="100" dirty="0">
                <a:latin typeface="Times New Roman" panose="02020603050405020304" pitchFamily="18" charset="0"/>
                <a:ea typeface="Calibri" panose="020F0502020204030204" pitchFamily="34" charset="0"/>
                <a:cs typeface="Times New Roman" panose="02020603050405020304" pitchFamily="18" charset="0"/>
              </a:rPr>
              <a:t>Manage academic calendar</a:t>
            </a:r>
          </a:p>
          <a:p>
            <a:pPr marL="285750" indent="-285750">
              <a:lnSpc>
                <a:spcPct val="107000"/>
              </a:lnSpc>
              <a:spcAft>
                <a:spcPts val="800"/>
              </a:spcAft>
              <a:buFont typeface="Wingdings" panose="05000000000000000000" pitchFamily="2" charset="2"/>
              <a:buChar char="ü"/>
            </a:pPr>
            <a:r>
              <a:rPr lang="en-IN" sz="1400" kern="100" dirty="0">
                <a:latin typeface="Times New Roman" panose="02020603050405020304" pitchFamily="18" charset="0"/>
                <a:ea typeface="Calibri" panose="020F0502020204030204" pitchFamily="34" charset="0"/>
                <a:cs typeface="Times New Roman" panose="02020603050405020304" pitchFamily="18" charset="0"/>
              </a:rPr>
              <a:t>Monitor the grievance process</a:t>
            </a:r>
          </a:p>
          <a:p>
            <a:pPr marL="285750" indent="-285750">
              <a:lnSpc>
                <a:spcPct val="107000"/>
              </a:lnSpc>
              <a:spcAft>
                <a:spcPts val="800"/>
              </a:spcAft>
              <a:buFont typeface="Wingdings" panose="05000000000000000000" pitchFamily="2" charset="2"/>
              <a:buChar char="ü"/>
            </a:pPr>
            <a:r>
              <a:rPr lang="en-IN" sz="1400" kern="100" dirty="0">
                <a:latin typeface="Times New Roman" panose="02020603050405020304" pitchFamily="18" charset="0"/>
                <a:ea typeface="Calibri" panose="020F0502020204030204" pitchFamily="34" charset="0"/>
                <a:cs typeface="Times New Roman" panose="02020603050405020304" pitchFamily="18" charset="0"/>
              </a:rPr>
              <a:t>Create academic reports and attendance records.</a:t>
            </a:r>
          </a:p>
          <a:p>
            <a:pPr>
              <a:lnSpc>
                <a:spcPct val="107000"/>
              </a:lnSpc>
              <a:spcAft>
                <a:spcPts val="800"/>
              </a:spcAft>
            </a:pPr>
            <a:endParaRPr lang="en-IN" sz="1400" kern="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9818593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103414" y="298973"/>
            <a:ext cx="5116657"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Data Requirements</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10" name="Rectangle 9">
            <a:extLst>
              <a:ext uri="{FF2B5EF4-FFF2-40B4-BE49-F238E27FC236}">
                <a16:creationId xmlns:a16="http://schemas.microsoft.com/office/drawing/2014/main" id="{385549A9-E2F2-41F2-8207-4D131EBF905F}"/>
              </a:ext>
            </a:extLst>
          </p:cNvPr>
          <p:cNvSpPr/>
          <p:nvPr/>
        </p:nvSpPr>
        <p:spPr>
          <a:xfrm>
            <a:off x="251520" y="1239149"/>
            <a:ext cx="7416824" cy="3565720"/>
          </a:xfrm>
          <a:prstGeom prst="rect">
            <a:avLst/>
          </a:prstGeom>
        </p:spPr>
        <p:txBody>
          <a:bodyPr wrap="square">
            <a:spAutoFit/>
          </a:bodyPr>
          <a:lstStyle/>
          <a:p>
            <a:pPr>
              <a:lnSpc>
                <a:spcPct val="107000"/>
              </a:lnSpc>
              <a:spcAft>
                <a:spcPts val="800"/>
              </a:spcAft>
            </a:pPr>
            <a:r>
              <a:rPr lang="en-IN" kern="100" dirty="0">
                <a:latin typeface="Times New Roman" panose="02020603050405020304" pitchFamily="18" charset="0"/>
                <a:ea typeface="Calibri" panose="020F0502020204030204" pitchFamily="34" charset="0"/>
                <a:cs typeface="Times New Roman" panose="02020603050405020304" pitchFamily="18" charset="0"/>
              </a:rPr>
              <a:t>The system will handle the following types of data:</a:t>
            </a:r>
            <a:endParaRPr lang="en-IN" sz="1200" kern="1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kern="100" dirty="0">
                <a:latin typeface="Times New Roman" panose="02020603050405020304" pitchFamily="18" charset="0"/>
                <a:ea typeface="Calibri" panose="020F0502020204030204" pitchFamily="34" charset="0"/>
                <a:cs typeface="Times New Roman" panose="02020603050405020304" pitchFamily="18" charset="0"/>
              </a:rPr>
              <a:t>Student data (ID, name, department, attendance, results)</a:t>
            </a:r>
            <a:endParaRPr lang="en-IN" sz="1200" kern="1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kern="100" dirty="0">
                <a:latin typeface="Times New Roman" panose="02020603050405020304" pitchFamily="18" charset="0"/>
                <a:ea typeface="Calibri" panose="020F0502020204030204" pitchFamily="34" charset="0"/>
                <a:cs typeface="Times New Roman" panose="02020603050405020304" pitchFamily="18" charset="0"/>
              </a:rPr>
              <a:t>Faculty data (ID, subjects handled, assigned students)</a:t>
            </a:r>
            <a:endParaRPr lang="en-IN" sz="1200" kern="1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kern="100" dirty="0">
                <a:latin typeface="Times New Roman" panose="02020603050405020304" pitchFamily="18" charset="0"/>
                <a:ea typeface="Calibri" panose="020F0502020204030204" pitchFamily="34" charset="0"/>
                <a:cs typeface="Times New Roman" panose="02020603050405020304" pitchFamily="18" charset="0"/>
              </a:rPr>
              <a:t>Attendance records</a:t>
            </a:r>
            <a:endParaRPr lang="en-IN" sz="1200" kern="1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kern="100" dirty="0">
                <a:latin typeface="Times New Roman" panose="02020603050405020304" pitchFamily="18" charset="0"/>
                <a:ea typeface="Calibri" panose="020F0502020204030204" pitchFamily="34" charset="0"/>
                <a:cs typeface="Times New Roman" panose="02020603050405020304" pitchFamily="18" charset="0"/>
              </a:rPr>
              <a:t>Examination and result data</a:t>
            </a:r>
            <a:endParaRPr lang="en-IN" sz="1200" kern="1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kern="100" dirty="0">
                <a:latin typeface="Times New Roman" panose="02020603050405020304" pitchFamily="18" charset="0"/>
                <a:ea typeface="Calibri" panose="020F0502020204030204" pitchFamily="34" charset="0"/>
                <a:cs typeface="Times New Roman" panose="02020603050405020304" pitchFamily="18" charset="0"/>
              </a:rPr>
              <a:t>Notifications and announcements</a:t>
            </a:r>
            <a:endParaRPr lang="en-IN" sz="1200" kern="1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kern="100" dirty="0">
                <a:latin typeface="Times New Roman" panose="02020603050405020304" pitchFamily="18" charset="0"/>
                <a:ea typeface="Calibri" panose="020F0502020204030204" pitchFamily="34" charset="0"/>
                <a:cs typeface="Times New Roman" panose="02020603050405020304" pitchFamily="18" charset="0"/>
              </a:rPr>
              <a:t>Grievance records and responses</a:t>
            </a:r>
            <a:endParaRPr lang="en-IN" sz="1200" kern="1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kern="100" dirty="0">
                <a:latin typeface="Times New Roman" panose="02020603050405020304" pitchFamily="18" charset="0"/>
                <a:ea typeface="Calibri" panose="020F0502020204030204" pitchFamily="34" charset="0"/>
                <a:cs typeface="Times New Roman" panose="02020603050405020304" pitchFamily="18" charset="0"/>
              </a:rPr>
              <a:t>User authentication and authorization data</a:t>
            </a:r>
            <a:endParaRPr lang="en-IN" sz="1200"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kern="100" dirty="0">
                <a:latin typeface="Times New Roman" panose="02020603050405020304" pitchFamily="18" charset="0"/>
                <a:ea typeface="Calibri" panose="020F0502020204030204" pitchFamily="34" charset="0"/>
                <a:cs typeface="Times New Roman" panose="02020603050405020304" pitchFamily="18" charset="0"/>
              </a:rPr>
              <a:t> </a:t>
            </a:r>
            <a:endParaRPr lang="en-IN" sz="1200" kern="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490688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103414" y="298973"/>
            <a:ext cx="482862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Resources Required</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F6E87A6C-E2ED-4DB7-8B49-0FB594086561}"/>
              </a:ext>
            </a:extLst>
          </p:cNvPr>
          <p:cNvSpPr/>
          <p:nvPr/>
        </p:nvSpPr>
        <p:spPr>
          <a:xfrm>
            <a:off x="179512" y="1222628"/>
            <a:ext cx="6678488" cy="3964675"/>
          </a:xfrm>
          <a:prstGeom prst="rect">
            <a:avLst/>
          </a:prstGeom>
        </p:spPr>
        <p:txBody>
          <a:bodyPr wrap="square">
            <a:spAutoFit/>
          </a:bodyPr>
          <a:lstStyle/>
          <a:p>
            <a:pPr>
              <a:lnSpc>
                <a:spcPct val="107000"/>
              </a:lnSpc>
              <a:spcAft>
                <a:spcPts val="800"/>
              </a:spcAft>
            </a:pPr>
            <a:r>
              <a:rPr lang="en-IN" b="1" kern="100" dirty="0">
                <a:latin typeface="Times New Roman" panose="02020603050405020304" pitchFamily="18" charset="0"/>
                <a:ea typeface="Calibri" panose="020F0502020204030204" pitchFamily="34" charset="0"/>
                <a:cs typeface="Times New Roman" panose="02020603050405020304" pitchFamily="18" charset="0"/>
              </a:rPr>
              <a:t>Software Resources</a:t>
            </a:r>
            <a:endParaRPr lang="en-IN" sz="1200" kern="1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kern="100" dirty="0">
                <a:latin typeface="Times New Roman" panose="02020603050405020304" pitchFamily="18" charset="0"/>
                <a:ea typeface="Calibri" panose="020F0502020204030204" pitchFamily="34" charset="0"/>
                <a:cs typeface="Times New Roman" panose="02020603050405020304" pitchFamily="18" charset="0"/>
              </a:rPr>
              <a:t>Frontend framework: React.js</a:t>
            </a:r>
            <a:endParaRPr lang="en-IN" sz="1200" kern="1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kern="100" dirty="0">
                <a:latin typeface="Times New Roman" panose="02020603050405020304" pitchFamily="18" charset="0"/>
                <a:ea typeface="Calibri" panose="020F0502020204030204" pitchFamily="34" charset="0"/>
                <a:cs typeface="Times New Roman" panose="02020603050405020304" pitchFamily="18" charset="0"/>
              </a:rPr>
              <a:t>Backend framework: Node.js with Express / Django</a:t>
            </a:r>
            <a:endParaRPr lang="en-IN" sz="1200" kern="1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kern="100" dirty="0">
                <a:latin typeface="Times New Roman" panose="02020603050405020304" pitchFamily="18" charset="0"/>
                <a:ea typeface="Calibri" panose="020F0502020204030204" pitchFamily="34" charset="0"/>
                <a:cs typeface="Times New Roman" panose="02020603050405020304" pitchFamily="18" charset="0"/>
              </a:rPr>
              <a:t>Database: MongoDB / PostgreSQL</a:t>
            </a:r>
            <a:endParaRPr lang="en-IN" sz="1200" kern="1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kern="100" dirty="0">
                <a:latin typeface="Times New Roman" panose="02020603050405020304" pitchFamily="18" charset="0"/>
                <a:ea typeface="Calibri" panose="020F0502020204030204" pitchFamily="34" charset="0"/>
                <a:cs typeface="Times New Roman" panose="02020603050405020304" pitchFamily="18" charset="0"/>
              </a:rPr>
              <a:t>Authentication: JWT</a:t>
            </a:r>
            <a:endParaRPr lang="en-IN" sz="1200" kern="1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kern="100" dirty="0">
                <a:latin typeface="Times New Roman" panose="02020603050405020304" pitchFamily="18" charset="0"/>
                <a:ea typeface="Calibri" panose="020F0502020204030204" pitchFamily="34" charset="0"/>
                <a:cs typeface="Times New Roman" panose="02020603050405020304" pitchFamily="18" charset="0"/>
              </a:rPr>
              <a:t>IDE: VS Code</a:t>
            </a:r>
            <a:endParaRPr lang="en-IN" sz="1200" kern="1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kern="100" dirty="0">
                <a:latin typeface="Times New Roman" panose="02020603050405020304" pitchFamily="18" charset="0"/>
                <a:ea typeface="Calibri" panose="020F0502020204030204" pitchFamily="34" charset="0"/>
                <a:cs typeface="Times New Roman" panose="02020603050405020304" pitchFamily="18" charset="0"/>
              </a:rPr>
              <a:t>Version Control: Git</a:t>
            </a:r>
            <a:endParaRPr lang="en-IN" sz="1200"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b="1" kern="100" dirty="0">
                <a:latin typeface="Times New Roman" panose="02020603050405020304" pitchFamily="18" charset="0"/>
                <a:ea typeface="Calibri" panose="020F0502020204030204" pitchFamily="34" charset="0"/>
                <a:cs typeface="Times New Roman" panose="02020603050405020304" pitchFamily="18" charset="0"/>
              </a:rPr>
              <a:t>Hardware Resources</a:t>
            </a:r>
            <a:endParaRPr lang="en-IN" sz="1200" kern="1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kern="100" dirty="0">
                <a:latin typeface="Times New Roman" panose="02020603050405020304" pitchFamily="18" charset="0"/>
                <a:ea typeface="Calibri" panose="020F0502020204030204" pitchFamily="34" charset="0"/>
                <a:cs typeface="Times New Roman" panose="02020603050405020304" pitchFamily="18" charset="0"/>
              </a:rPr>
              <a:t>Development system with minimum 8 GB RAM</a:t>
            </a:r>
            <a:endParaRPr lang="en-IN" sz="1200" kern="1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kern="100" dirty="0">
                <a:latin typeface="Times New Roman" panose="02020603050405020304" pitchFamily="18" charset="0"/>
                <a:ea typeface="Calibri" panose="020F0502020204030204" pitchFamily="34" charset="0"/>
                <a:cs typeface="Times New Roman" panose="02020603050405020304" pitchFamily="18" charset="0"/>
              </a:rPr>
              <a:t>Stable internet connectivity</a:t>
            </a:r>
            <a:endParaRPr lang="en-IN" sz="1200" kern="1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399195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103415" y="298973"/>
            <a:ext cx="4392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Methodology</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11" name="Rectangle 10">
            <a:extLst>
              <a:ext uri="{FF2B5EF4-FFF2-40B4-BE49-F238E27FC236}">
                <a16:creationId xmlns:a16="http://schemas.microsoft.com/office/drawing/2014/main" id="{03F238A9-F67F-4DBC-841E-55897BF7D276}"/>
              </a:ext>
            </a:extLst>
          </p:cNvPr>
          <p:cNvSpPr/>
          <p:nvPr/>
        </p:nvSpPr>
        <p:spPr>
          <a:xfrm>
            <a:off x="1" y="1087289"/>
            <a:ext cx="9108504" cy="5044330"/>
          </a:xfrm>
          <a:prstGeom prst="rect">
            <a:avLst/>
          </a:prstGeom>
        </p:spPr>
        <p:txBody>
          <a:bodyPr wrap="square">
            <a:spAutoFit/>
          </a:bodyPr>
          <a:lstStyle/>
          <a:p>
            <a:pPr marL="342900" lvl="0" indent="-342900">
              <a:lnSpc>
                <a:spcPct val="150000"/>
              </a:lnSpc>
              <a:spcAft>
                <a:spcPts val="0"/>
              </a:spcAft>
              <a:buSzPts val="1000"/>
              <a:buFont typeface="Symbol" panose="05050102010706020507" pitchFamily="18" charset="2"/>
              <a:buChar char=""/>
              <a:tabLst>
                <a:tab pos="457200" algn="l"/>
              </a:tabLst>
            </a:pPr>
            <a:r>
              <a:rPr lang="en-IN" sz="1200" b="1" dirty="0">
                <a:latin typeface="Times New Roman" panose="02020603050405020304" pitchFamily="18" charset="0"/>
                <a:ea typeface="Verdana" panose="020B0604030504040204" pitchFamily="34" charset="0"/>
                <a:cs typeface="Verdana" panose="020B0604030504040204" pitchFamily="34" charset="0"/>
              </a:rPr>
              <a:t>Research and Analysis:</a:t>
            </a:r>
            <a:br>
              <a:rPr lang="en-IN" sz="1200" dirty="0">
                <a:latin typeface="Times New Roman" panose="02020603050405020304" pitchFamily="18" charset="0"/>
                <a:ea typeface="Verdana" panose="020B0604030504040204" pitchFamily="34" charset="0"/>
                <a:cs typeface="Verdana" panose="020B0604030504040204" pitchFamily="34" charset="0"/>
              </a:rPr>
            </a:br>
            <a:r>
              <a:rPr lang="en-IN" sz="1200" dirty="0">
                <a:latin typeface="Times New Roman" panose="02020603050405020304" pitchFamily="18" charset="0"/>
                <a:ea typeface="Verdana" panose="020B0604030504040204" pitchFamily="34" charset="0"/>
                <a:cs typeface="Verdana" panose="020B0604030504040204" pitchFamily="34" charset="0"/>
              </a:rPr>
              <a:t>Study existing university management systems and identify challenges faced by students, faculty, and administrators in managing academic and administrative processes. Inputs will be gathered through discussions, observations, and analysis of current institutional workflows.</a:t>
            </a:r>
            <a:endParaRPr lang="en-IN" sz="1200" dirty="0">
              <a:latin typeface="Verdana" panose="020B0604030504040204" pitchFamily="34" charset="0"/>
              <a:ea typeface="Verdana" panose="020B0604030504040204" pitchFamily="34" charset="0"/>
              <a:cs typeface="Verdana" panose="020B0604030504040204" pitchFamily="34" charset="0"/>
            </a:endParaRPr>
          </a:p>
          <a:p>
            <a:pPr marL="342900" lvl="0" indent="-342900">
              <a:lnSpc>
                <a:spcPct val="150000"/>
              </a:lnSpc>
              <a:spcAft>
                <a:spcPts val="0"/>
              </a:spcAft>
              <a:buSzPts val="1000"/>
              <a:buFont typeface="Symbol" panose="05050102010706020507" pitchFamily="18" charset="2"/>
              <a:buChar char=""/>
              <a:tabLst>
                <a:tab pos="457200" algn="l"/>
              </a:tabLst>
            </a:pPr>
            <a:r>
              <a:rPr lang="en-IN" sz="1200" b="1" dirty="0">
                <a:latin typeface="Times New Roman" panose="02020603050405020304" pitchFamily="18" charset="0"/>
                <a:ea typeface="Verdana" panose="020B0604030504040204" pitchFamily="34" charset="0"/>
                <a:cs typeface="Verdana" panose="020B0604030504040204" pitchFamily="34" charset="0"/>
              </a:rPr>
              <a:t>Requirement Specification:</a:t>
            </a:r>
            <a:br>
              <a:rPr lang="en-IN" sz="1200" dirty="0">
                <a:latin typeface="Times New Roman" panose="02020603050405020304" pitchFamily="18" charset="0"/>
                <a:ea typeface="Verdana" panose="020B0604030504040204" pitchFamily="34" charset="0"/>
                <a:cs typeface="Verdana" panose="020B0604030504040204" pitchFamily="34" charset="0"/>
              </a:rPr>
            </a:br>
            <a:r>
              <a:rPr lang="en-IN" sz="1200" dirty="0">
                <a:latin typeface="Times New Roman" panose="02020603050405020304" pitchFamily="18" charset="0"/>
                <a:ea typeface="Verdana" panose="020B0604030504040204" pitchFamily="34" charset="0"/>
                <a:cs typeface="Verdana" panose="020B0604030504040204" pitchFamily="34" charset="0"/>
              </a:rPr>
              <a:t>Define detailed </a:t>
            </a:r>
            <a:r>
              <a:rPr lang="en-IN" sz="1200" b="1" dirty="0">
                <a:latin typeface="Times New Roman" panose="02020603050405020304" pitchFamily="18" charset="0"/>
                <a:ea typeface="Verdana" panose="020B0604030504040204" pitchFamily="34" charset="0"/>
                <a:cs typeface="Verdana" panose="020B0604030504040204" pitchFamily="34" charset="0"/>
              </a:rPr>
              <a:t>functional and non-functional requirements</a:t>
            </a:r>
            <a:r>
              <a:rPr lang="en-IN" sz="1200" dirty="0">
                <a:latin typeface="Times New Roman" panose="02020603050405020304" pitchFamily="18" charset="0"/>
                <a:ea typeface="Verdana" panose="020B0604030504040204" pitchFamily="34" charset="0"/>
                <a:cs typeface="Verdana" panose="020B0604030504040204" pitchFamily="34" charset="0"/>
              </a:rPr>
              <a:t> for the Student, Faculty, and Admin modules based on the identified academic and administrative needs.</a:t>
            </a:r>
            <a:endParaRPr lang="en-IN" sz="1200" dirty="0">
              <a:latin typeface="Verdana" panose="020B0604030504040204" pitchFamily="34" charset="0"/>
              <a:ea typeface="Verdana" panose="020B0604030504040204" pitchFamily="34" charset="0"/>
              <a:cs typeface="Verdana" panose="020B0604030504040204" pitchFamily="34" charset="0"/>
            </a:endParaRPr>
          </a:p>
          <a:p>
            <a:pPr marL="342900" lvl="0" indent="-342900">
              <a:lnSpc>
                <a:spcPct val="150000"/>
              </a:lnSpc>
              <a:spcAft>
                <a:spcPts val="0"/>
              </a:spcAft>
              <a:buSzPts val="1000"/>
              <a:buFont typeface="Symbol" panose="05050102010706020507" pitchFamily="18" charset="2"/>
              <a:buChar char=""/>
              <a:tabLst>
                <a:tab pos="457200" algn="l"/>
              </a:tabLst>
            </a:pPr>
            <a:r>
              <a:rPr lang="en-IN" sz="1200" b="1" dirty="0">
                <a:latin typeface="Times New Roman" panose="02020603050405020304" pitchFamily="18" charset="0"/>
                <a:ea typeface="Verdana" panose="020B0604030504040204" pitchFamily="34" charset="0"/>
                <a:cs typeface="Verdana" panose="020B0604030504040204" pitchFamily="34" charset="0"/>
              </a:rPr>
              <a:t>Design and Prototyping:</a:t>
            </a:r>
            <a:br>
              <a:rPr lang="en-IN" sz="1200" dirty="0">
                <a:latin typeface="Times New Roman" panose="02020603050405020304" pitchFamily="18" charset="0"/>
                <a:ea typeface="Verdana" panose="020B0604030504040204" pitchFamily="34" charset="0"/>
                <a:cs typeface="Verdana" panose="020B0604030504040204" pitchFamily="34" charset="0"/>
              </a:rPr>
            </a:br>
            <a:r>
              <a:rPr lang="en-IN" sz="1200" dirty="0">
                <a:latin typeface="Times New Roman" panose="02020603050405020304" pitchFamily="18" charset="0"/>
                <a:ea typeface="Verdana" panose="020B0604030504040204" pitchFamily="34" charset="0"/>
                <a:cs typeface="Verdana" panose="020B0604030504040204" pitchFamily="34" charset="0"/>
              </a:rPr>
              <a:t>Create system architecture diagrams, database schemas, and UI wireframes using tools such as Figma to visualize role-based dashboards and user interactions.</a:t>
            </a:r>
            <a:endParaRPr lang="en-IN" sz="1200" dirty="0">
              <a:latin typeface="Verdana" panose="020B0604030504040204" pitchFamily="34" charset="0"/>
              <a:ea typeface="Verdana" panose="020B0604030504040204" pitchFamily="34" charset="0"/>
              <a:cs typeface="Verdana" panose="020B0604030504040204" pitchFamily="34" charset="0"/>
            </a:endParaRPr>
          </a:p>
          <a:p>
            <a:pPr marL="342900" lvl="0" indent="-342900">
              <a:lnSpc>
                <a:spcPct val="150000"/>
              </a:lnSpc>
              <a:spcAft>
                <a:spcPts val="0"/>
              </a:spcAft>
              <a:buSzPts val="1000"/>
              <a:buFont typeface="Symbol" panose="05050102010706020507" pitchFamily="18" charset="2"/>
              <a:buChar char=""/>
              <a:tabLst>
                <a:tab pos="457200" algn="l"/>
              </a:tabLst>
            </a:pPr>
            <a:r>
              <a:rPr lang="en-IN" sz="1200" b="1" dirty="0">
                <a:latin typeface="Times New Roman" panose="02020603050405020304" pitchFamily="18" charset="0"/>
                <a:ea typeface="Verdana" panose="020B0604030504040204" pitchFamily="34" charset="0"/>
                <a:cs typeface="Verdana" panose="020B0604030504040204" pitchFamily="34" charset="0"/>
              </a:rPr>
              <a:t>Development:</a:t>
            </a:r>
            <a:br>
              <a:rPr lang="en-IN" sz="1200" dirty="0">
                <a:latin typeface="Times New Roman" panose="02020603050405020304" pitchFamily="18" charset="0"/>
                <a:ea typeface="Verdana" panose="020B0604030504040204" pitchFamily="34" charset="0"/>
                <a:cs typeface="Verdana" panose="020B0604030504040204" pitchFamily="34" charset="0"/>
              </a:rPr>
            </a:br>
            <a:r>
              <a:rPr lang="en-IN" sz="1200" dirty="0">
                <a:latin typeface="Times New Roman" panose="02020603050405020304" pitchFamily="18" charset="0"/>
                <a:ea typeface="Verdana" panose="020B0604030504040204" pitchFamily="34" charset="0"/>
                <a:cs typeface="Verdana" panose="020B0604030504040204" pitchFamily="34" charset="0"/>
              </a:rPr>
              <a:t>Implement the platform using modern front-end and back-end technologies. Secure authentication, role-based access control (RBAC), and scalable RESTful APIs will be developed to ensure data integrity and system security.</a:t>
            </a:r>
            <a:endParaRPr lang="en-IN" sz="1200" dirty="0">
              <a:latin typeface="Verdana" panose="020B0604030504040204" pitchFamily="34" charset="0"/>
              <a:ea typeface="Verdana" panose="020B0604030504040204" pitchFamily="34" charset="0"/>
              <a:cs typeface="Verdana" panose="020B0604030504040204" pitchFamily="34" charset="0"/>
            </a:endParaRPr>
          </a:p>
          <a:p>
            <a:pPr marL="342900" lvl="0" indent="-342900">
              <a:lnSpc>
                <a:spcPct val="150000"/>
              </a:lnSpc>
              <a:spcAft>
                <a:spcPts val="0"/>
              </a:spcAft>
              <a:buSzPts val="1000"/>
              <a:buFont typeface="Symbol" panose="05050102010706020507" pitchFamily="18" charset="2"/>
              <a:buChar char=""/>
              <a:tabLst>
                <a:tab pos="457200" algn="l"/>
              </a:tabLst>
            </a:pPr>
            <a:r>
              <a:rPr lang="en-IN" sz="1200" b="1" dirty="0">
                <a:latin typeface="Times New Roman" panose="02020603050405020304" pitchFamily="18" charset="0"/>
                <a:ea typeface="Verdana" panose="020B0604030504040204" pitchFamily="34" charset="0"/>
                <a:cs typeface="Verdana" panose="020B0604030504040204" pitchFamily="34" charset="0"/>
              </a:rPr>
              <a:t>Testing and Validation:</a:t>
            </a:r>
            <a:br>
              <a:rPr lang="en-IN" sz="1200" dirty="0">
                <a:latin typeface="Times New Roman" panose="02020603050405020304" pitchFamily="18" charset="0"/>
                <a:ea typeface="Verdana" panose="020B0604030504040204" pitchFamily="34" charset="0"/>
                <a:cs typeface="Verdana" panose="020B0604030504040204" pitchFamily="34" charset="0"/>
              </a:rPr>
            </a:br>
            <a:r>
              <a:rPr lang="en-IN" sz="1200" dirty="0">
                <a:latin typeface="Times New Roman" panose="02020603050405020304" pitchFamily="18" charset="0"/>
                <a:ea typeface="Verdana" panose="020B0604030504040204" pitchFamily="34" charset="0"/>
                <a:cs typeface="Verdana" panose="020B0604030504040204" pitchFamily="34" charset="0"/>
              </a:rPr>
              <a:t>Perform unit testing, integration testing, and usability testing to identify bugs, verify functionality, and validate system performance across all modules.</a:t>
            </a:r>
            <a:endParaRPr lang="en-IN" sz="1200" dirty="0">
              <a:latin typeface="Verdana" panose="020B0604030504040204" pitchFamily="34" charset="0"/>
              <a:ea typeface="Verdana" panose="020B0604030504040204" pitchFamily="34" charset="0"/>
              <a:cs typeface="Verdana" panose="020B0604030504040204" pitchFamily="34" charset="0"/>
            </a:endParaRPr>
          </a:p>
          <a:p>
            <a:pPr marL="342900" lvl="0" indent="-342900">
              <a:lnSpc>
                <a:spcPct val="150000"/>
              </a:lnSpc>
              <a:spcAft>
                <a:spcPts val="0"/>
              </a:spcAft>
              <a:buSzPts val="1000"/>
              <a:buFont typeface="Symbol" panose="05050102010706020507" pitchFamily="18" charset="2"/>
              <a:buChar char=""/>
              <a:tabLst>
                <a:tab pos="457200" algn="l"/>
              </a:tabLst>
            </a:pPr>
            <a:r>
              <a:rPr lang="en-IN" sz="1200" b="1" dirty="0">
                <a:latin typeface="Times New Roman" panose="02020603050405020304" pitchFamily="18" charset="0"/>
                <a:ea typeface="Verdana" panose="020B0604030504040204" pitchFamily="34" charset="0"/>
                <a:cs typeface="Verdana" panose="020B0604030504040204" pitchFamily="34" charset="0"/>
              </a:rPr>
              <a:t>Deployment and Maintenance:</a:t>
            </a:r>
            <a:br>
              <a:rPr lang="en-IN" sz="1200" dirty="0">
                <a:latin typeface="Times New Roman" panose="02020603050405020304" pitchFamily="18" charset="0"/>
                <a:ea typeface="Verdana" panose="020B0604030504040204" pitchFamily="34" charset="0"/>
                <a:cs typeface="Verdana" panose="020B0604030504040204" pitchFamily="34" charset="0"/>
              </a:rPr>
            </a:br>
            <a:r>
              <a:rPr lang="en-IN" sz="1200" dirty="0">
                <a:latin typeface="Times New Roman" panose="02020603050405020304" pitchFamily="18" charset="0"/>
                <a:ea typeface="Verdana" panose="020B0604030504040204" pitchFamily="34" charset="0"/>
                <a:cs typeface="Verdana" panose="020B0604030504040204" pitchFamily="34" charset="0"/>
              </a:rPr>
              <a:t>Deploy the application using local or containerized environments (Docker). The system will be maintained and refined based on testing outcomes and future academic requirements.</a:t>
            </a:r>
            <a:endParaRPr lang="en-IN" sz="12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0998783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177133" y="346645"/>
            <a:ext cx="828092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a:effectLst/>
                <a:latin typeface="Verdana" panose="020B0604030504040204" pitchFamily="34" charset="0"/>
                <a:ea typeface="Times New Roman" panose="02020603050405020304" pitchFamily="18" charset="0"/>
                <a:cs typeface="Times New Roman" panose="02020603050405020304" pitchFamily="18" charset="0"/>
              </a:rPr>
              <a:t>Methodology Flowchart</a:t>
            </a:r>
            <a:endParaRPr lang="en-IN" sz="3200" b="1">
              <a:solidFill>
                <a:srgbClr val="E31E24"/>
              </a:solidFill>
              <a:cs typeface="Times New Roman" panose="02020603050405020304" pitchFamily="18" charset="0"/>
              <a:sym typeface="Arial"/>
            </a:endParaRPr>
          </a:p>
        </p:txBody>
      </p:sp>
      <p:cxnSp>
        <p:nvCxnSpPr>
          <p:cNvPr id="7" name="Straight Connector 6"/>
          <p:cNvCxnSpPr>
            <a:cxnSpLocks/>
          </p:cNvCxnSpPr>
          <p:nvPr/>
        </p:nvCxnSpPr>
        <p:spPr>
          <a:xfrm>
            <a:off x="0" y="1061448"/>
            <a:ext cx="9144000"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pic>
        <p:nvPicPr>
          <p:cNvPr id="6" name="Picture 5">
            <a:extLst>
              <a:ext uri="{FF2B5EF4-FFF2-40B4-BE49-F238E27FC236}">
                <a16:creationId xmlns:a16="http://schemas.microsoft.com/office/drawing/2014/main" id="{EEF10AC0-A0BA-4925-BD4D-063BE193DA36}"/>
              </a:ext>
            </a:extLst>
          </p:cNvPr>
          <p:cNvPicPr/>
          <p:nvPr/>
        </p:nvPicPr>
        <p:blipFill rotWithShape="1">
          <a:blip r:embed="rId4"/>
          <a:srcRect l="2245" t="22650" r="1998" b="24655"/>
          <a:stretch/>
        </p:blipFill>
        <p:spPr>
          <a:xfrm>
            <a:off x="266960" y="1191501"/>
            <a:ext cx="8610079" cy="4987790"/>
          </a:xfrm>
          <a:prstGeom prst="rect">
            <a:avLst/>
          </a:prstGeom>
          <a:ln>
            <a:solidFill>
              <a:schemeClr val="tx1"/>
            </a:solidFill>
          </a:ln>
        </p:spPr>
      </p:pic>
    </p:spTree>
    <p:extLst>
      <p:ext uri="{BB962C8B-B14F-4D97-AF65-F5344CB8AC3E}">
        <p14:creationId xmlns:p14="http://schemas.microsoft.com/office/powerpoint/2010/main" val="34333433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103414" y="298973"/>
            <a:ext cx="684484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Expected Results &amp; Impact</a:t>
            </a:r>
            <a:endParaRPr lang="en-IN" sz="3200" b="1" dirty="0">
              <a:solidFill>
                <a:srgbClr val="E31E24"/>
              </a:solidFill>
              <a:cs typeface="Times New Roman" panose="02020603050405020304" pitchFamily="18" charset="0"/>
              <a:sym typeface="Arial"/>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AE24D516-77C6-C96A-5F77-D099623448D8}"/>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8" name="Rectangle 1">
            <a:extLst>
              <a:ext uri="{FF2B5EF4-FFF2-40B4-BE49-F238E27FC236}">
                <a16:creationId xmlns:a16="http://schemas.microsoft.com/office/drawing/2014/main" id="{BB6466EB-EC74-4D3A-B619-D44D75336128}"/>
              </a:ext>
            </a:extLst>
          </p:cNvPr>
          <p:cNvSpPr>
            <a:spLocks noChangeArrowheads="1"/>
          </p:cNvSpPr>
          <p:nvPr/>
        </p:nvSpPr>
        <p:spPr bwMode="auto">
          <a:xfrm>
            <a:off x="176745" y="1293834"/>
            <a:ext cx="8100392" cy="3285323"/>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marL="342900" indent="-342900">
              <a:lnSpc>
                <a:spcPct val="150000"/>
              </a:lnSpc>
              <a:buSzPts val="1000"/>
              <a:buFont typeface="Symbol" panose="05050102010706020507" pitchFamily="18" charset="2"/>
              <a:buChar char=""/>
              <a:tabLst>
                <a:tab pos="457200" algn="l"/>
              </a:tabLst>
            </a:pPr>
            <a:r>
              <a:rPr lang="en-US" altLang="en-US" sz="1400" dirty="0">
                <a:latin typeface="Times New Roman" panose="02020603050405020304" pitchFamily="18" charset="0"/>
                <a:ea typeface="Verdana" panose="020B0604030504040204" pitchFamily="34" charset="0"/>
              </a:rPr>
              <a:t>Development of a centralized, secure, and role-based university management platform for students, faculty, and administrators.</a:t>
            </a:r>
          </a:p>
          <a:p>
            <a:pPr marL="342900" indent="-342900">
              <a:lnSpc>
                <a:spcPct val="150000"/>
              </a:lnSpc>
              <a:buSzPts val="1000"/>
              <a:buFont typeface="Symbol" panose="05050102010706020507" pitchFamily="18" charset="2"/>
              <a:buChar char=""/>
              <a:tabLst>
                <a:tab pos="457200" algn="l"/>
              </a:tabLst>
            </a:pPr>
            <a:r>
              <a:rPr lang="en-US" altLang="en-US" sz="1400" dirty="0">
                <a:latin typeface="Times New Roman" panose="02020603050405020304" pitchFamily="18" charset="0"/>
                <a:ea typeface="Verdana" panose="020B0604030504040204" pitchFamily="34" charset="0"/>
              </a:rPr>
              <a:t>Automation of academic and administrative processes such as attendance tracking, marks management, notifications, and grievance handling.</a:t>
            </a:r>
          </a:p>
          <a:p>
            <a:pPr marL="342900" indent="-342900">
              <a:lnSpc>
                <a:spcPct val="150000"/>
              </a:lnSpc>
              <a:buSzPts val="1000"/>
              <a:buFont typeface="Symbol" panose="05050102010706020507" pitchFamily="18" charset="2"/>
              <a:buChar char=""/>
              <a:tabLst>
                <a:tab pos="457200" algn="l"/>
              </a:tabLst>
            </a:pPr>
            <a:r>
              <a:rPr lang="en-US" altLang="en-US" sz="1400" dirty="0">
                <a:latin typeface="Times New Roman" panose="02020603050405020304" pitchFamily="18" charset="0"/>
                <a:ea typeface="Verdana" panose="020B0604030504040204" pitchFamily="34" charset="0"/>
              </a:rPr>
              <a:t>Reduction in manual workload and processing delays, leading to improved operational efficiency.</a:t>
            </a:r>
          </a:p>
          <a:p>
            <a:pPr marL="342900" indent="-342900">
              <a:lnSpc>
                <a:spcPct val="150000"/>
              </a:lnSpc>
              <a:buSzPts val="1000"/>
              <a:buFont typeface="Symbol" panose="05050102010706020507" pitchFamily="18" charset="2"/>
              <a:buChar char=""/>
              <a:tabLst>
                <a:tab pos="457200" algn="l"/>
              </a:tabLst>
            </a:pPr>
            <a:r>
              <a:rPr lang="en-US" altLang="en-US" sz="1400" dirty="0">
                <a:latin typeface="Times New Roman" panose="02020603050405020304" pitchFamily="18" charset="0"/>
                <a:ea typeface="Verdana" panose="020B0604030504040204" pitchFamily="34" charset="0"/>
              </a:rPr>
              <a:t>Enhanced transparency and accountability through real-time access to academic records and request status tracking.</a:t>
            </a:r>
          </a:p>
          <a:p>
            <a:pPr marL="342900" indent="-342900">
              <a:lnSpc>
                <a:spcPct val="150000"/>
              </a:lnSpc>
              <a:buSzPts val="1000"/>
              <a:buFont typeface="Symbol" panose="05050102010706020507" pitchFamily="18" charset="2"/>
              <a:buChar char=""/>
              <a:tabLst>
                <a:tab pos="457200" algn="l"/>
              </a:tabLst>
            </a:pPr>
            <a:r>
              <a:rPr lang="en-US" altLang="en-US" sz="1400" dirty="0">
                <a:latin typeface="Times New Roman" panose="02020603050405020304" pitchFamily="18" charset="0"/>
                <a:ea typeface="Verdana" panose="020B0604030504040204" pitchFamily="34" charset="0"/>
              </a:rPr>
              <a:t>Improved communication and engagement among students, faculty, and administration.</a:t>
            </a:r>
          </a:p>
          <a:p>
            <a:pPr marL="342900" indent="-342900">
              <a:lnSpc>
                <a:spcPct val="150000"/>
              </a:lnSpc>
              <a:buSzPts val="1000"/>
              <a:buFont typeface="Symbol" panose="05050102010706020507" pitchFamily="18" charset="2"/>
              <a:buChar char=""/>
              <a:tabLst>
                <a:tab pos="457200" algn="l"/>
              </a:tabLst>
            </a:pPr>
            <a:r>
              <a:rPr lang="en-US" altLang="en-US" sz="1400" dirty="0">
                <a:latin typeface="Times New Roman" panose="02020603050405020304" pitchFamily="18" charset="0"/>
                <a:ea typeface="Verdana" panose="020B0604030504040204" pitchFamily="34" charset="0"/>
              </a:rPr>
              <a:t>Accurate and reliable data availability supporting informed academic and administrative decision-making.</a:t>
            </a:r>
          </a:p>
          <a:p>
            <a:pPr marL="342900" indent="-342900">
              <a:lnSpc>
                <a:spcPct val="150000"/>
              </a:lnSpc>
              <a:buSzPts val="1000"/>
              <a:buFont typeface="Symbol" panose="05050102010706020507" pitchFamily="18" charset="2"/>
              <a:buChar char=""/>
              <a:tabLst>
                <a:tab pos="457200" algn="l"/>
              </a:tabLst>
            </a:pPr>
            <a:r>
              <a:rPr lang="en-US" altLang="en-US" sz="1400" dirty="0">
                <a:latin typeface="Times New Roman" panose="02020603050405020304" pitchFamily="18" charset="0"/>
                <a:ea typeface="Verdana" panose="020B0604030504040204" pitchFamily="34" charset="0"/>
              </a:rPr>
              <a:t>User-friendly and scalable system architecture that can support future enhancements with minimal </a:t>
            </a:r>
            <a:r>
              <a:rPr lang="en-US" altLang="en-US" sz="1400" dirty="0" err="1">
                <a:latin typeface="Times New Roman" panose="02020603050405020304" pitchFamily="18" charset="0"/>
                <a:ea typeface="Verdana" panose="020B0604030504040204" pitchFamily="34" charset="0"/>
              </a:rPr>
              <a:t>cost.S</a:t>
            </a:r>
            <a:endParaRPr lang="en-US" altLang="en-US" sz="1400" dirty="0">
              <a:latin typeface="Times New Roman" panose="02020603050405020304" pitchFamily="18" charset="0"/>
              <a:ea typeface="Verdana" panose="020B0604030504040204" pitchFamily="34" charset="0"/>
            </a:endParaRPr>
          </a:p>
        </p:txBody>
      </p:sp>
    </p:spTree>
    <p:extLst>
      <p:ext uri="{BB962C8B-B14F-4D97-AF65-F5344CB8AC3E}">
        <p14:creationId xmlns:p14="http://schemas.microsoft.com/office/powerpoint/2010/main" val="2562604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D42DB-FF71-D8E6-630F-399C60C5361D}"/>
            </a:ext>
          </a:extLst>
        </p:cNvPr>
        <p:cNvGrpSpPr/>
        <p:nvPr/>
      </p:nvGrpSpPr>
      <p:grpSpPr>
        <a:xfrm>
          <a:off x="0" y="0"/>
          <a:ext cx="0" cy="0"/>
          <a:chOff x="0" y="0"/>
          <a:chExt cx="0" cy="0"/>
        </a:xfrm>
      </p:grpSpPr>
      <p:sp>
        <p:nvSpPr>
          <p:cNvPr id="5" name="Rectangle 1">
            <a:extLst>
              <a:ext uri="{FF2B5EF4-FFF2-40B4-BE49-F238E27FC236}">
                <a16:creationId xmlns:a16="http://schemas.microsoft.com/office/drawing/2014/main" id="{3B6D9598-AD90-B9CA-8610-998CE22F1CA3}"/>
              </a:ext>
            </a:extLst>
          </p:cNvPr>
          <p:cNvSpPr>
            <a:spLocks noChangeArrowheads="1"/>
          </p:cNvSpPr>
          <p:nvPr/>
        </p:nvSpPr>
        <p:spPr bwMode="auto">
          <a:xfrm>
            <a:off x="103414" y="298973"/>
            <a:ext cx="684484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Project Timeline</a:t>
            </a:r>
            <a:endParaRPr lang="en-IN" sz="3200" b="1" dirty="0">
              <a:solidFill>
                <a:srgbClr val="E31E24"/>
              </a:solidFill>
              <a:cs typeface="Times New Roman" panose="02020603050405020304" pitchFamily="18" charset="0"/>
              <a:sym typeface="Arial"/>
            </a:endParaRPr>
          </a:p>
        </p:txBody>
      </p:sp>
      <p:cxnSp>
        <p:nvCxnSpPr>
          <p:cNvPr id="7" name="Straight Connector 6">
            <a:extLst>
              <a:ext uri="{FF2B5EF4-FFF2-40B4-BE49-F238E27FC236}">
                <a16:creationId xmlns:a16="http://schemas.microsoft.com/office/drawing/2014/main" id="{1362D34C-9176-DD2A-8AAF-507BD46BD710}"/>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066F8A4-300F-9AE0-4A5E-2A2D19A8A54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a:extLst>
              <a:ext uri="{FF2B5EF4-FFF2-40B4-BE49-F238E27FC236}">
                <a16:creationId xmlns:a16="http://schemas.microsoft.com/office/drawing/2014/main" id="{C166FAC4-E627-209B-D9A4-20EC84D69C44}"/>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pic>
        <p:nvPicPr>
          <p:cNvPr id="2" name="Picture 1">
            <a:extLst>
              <a:ext uri="{FF2B5EF4-FFF2-40B4-BE49-F238E27FC236}">
                <a16:creationId xmlns:a16="http://schemas.microsoft.com/office/drawing/2014/main" id="{B54D403F-9E8B-47E6-9BCE-02E216E14278}"/>
              </a:ext>
            </a:extLst>
          </p:cNvPr>
          <p:cNvPicPr>
            <a:picLocks noChangeAspect="1"/>
          </p:cNvPicPr>
          <p:nvPr/>
        </p:nvPicPr>
        <p:blipFill>
          <a:blip r:embed="rId4"/>
          <a:stretch>
            <a:fillRect/>
          </a:stretch>
        </p:blipFill>
        <p:spPr>
          <a:xfrm>
            <a:off x="36512" y="1124744"/>
            <a:ext cx="9144000" cy="5218354"/>
          </a:xfrm>
          <a:prstGeom prst="rect">
            <a:avLst/>
          </a:prstGeom>
        </p:spPr>
      </p:pic>
    </p:spTree>
    <p:extLst>
      <p:ext uri="{BB962C8B-B14F-4D97-AF65-F5344CB8AC3E}">
        <p14:creationId xmlns:p14="http://schemas.microsoft.com/office/powerpoint/2010/main" val="34495082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1835696" y="2708920"/>
            <a:ext cx="5651034" cy="1200329"/>
          </a:xfrm>
          <a:prstGeom prst="rect">
            <a:avLst/>
          </a:prstGeom>
          <a:noFill/>
        </p:spPr>
        <p:txBody>
          <a:bodyPr wrap="none" rtlCol="0">
            <a:spAutoFit/>
          </a:bodyPr>
          <a:lstStyle/>
          <a:p>
            <a:pPr algn="ctr"/>
            <a:r>
              <a:rPr lang="en-US" sz="7200" dirty="0">
                <a:solidFill>
                  <a:srgbClr val="0060AA"/>
                </a:solidFill>
                <a:latin typeface="Garamond" pitchFamily="18" charset="0"/>
              </a:rPr>
              <a:t>THANK</a:t>
            </a:r>
            <a:r>
              <a:rPr lang="en-US" sz="7200" dirty="0">
                <a:latin typeface="Garamond" pitchFamily="18" charset="0"/>
              </a:rPr>
              <a:t> </a:t>
            </a:r>
            <a:r>
              <a:rPr lang="en-US" sz="7200" dirty="0">
                <a:solidFill>
                  <a:srgbClr val="E31E24"/>
                </a:solidFill>
                <a:latin typeface="Garamond" pitchFamily="18" charset="0"/>
              </a:rPr>
              <a:t>YOU</a:t>
            </a:r>
            <a:endParaRPr lang="en-IN" sz="7200" dirty="0">
              <a:latin typeface="Garamond" pitchFamily="18" charset="0"/>
            </a:endParaRPr>
          </a:p>
        </p:txBody>
      </p:sp>
    </p:spTree>
    <p:extLst>
      <p:ext uri="{BB962C8B-B14F-4D97-AF65-F5344CB8AC3E}">
        <p14:creationId xmlns:p14="http://schemas.microsoft.com/office/powerpoint/2010/main" val="38581981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AACB7372627F24AA0854C277067D198" ma:contentTypeVersion="4" ma:contentTypeDescription="Create a new document." ma:contentTypeScope="" ma:versionID="9087ad0435cd3f7158dec53d92e2bd87">
  <xsd:schema xmlns:xsd="http://www.w3.org/2001/XMLSchema" xmlns:xs="http://www.w3.org/2001/XMLSchema" xmlns:p="http://schemas.microsoft.com/office/2006/metadata/properties" xmlns:ns3="73d8d2e5-9b58-4a5c-856a-f65c2b00b9af" targetNamespace="http://schemas.microsoft.com/office/2006/metadata/properties" ma:root="true" ma:fieldsID="99d644122428edd33ab28b9e322ff4c6" ns3:_="">
    <xsd:import namespace="73d8d2e5-9b58-4a5c-856a-f65c2b00b9af"/>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3d8d2e5-9b58-4a5c-856a-f65c2b00b9a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F9A3A56-72DA-46B1-B75C-7FA72ACB288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3d8d2e5-9b58-4a5c-856a-f65c2b00b9a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F3E4F1B-A65C-4D99-88C7-73997B8D0450}">
  <ds:schemaRefs>
    <ds:schemaRef ds:uri="http://schemas.microsoft.com/sharepoint/v3/contenttype/forms"/>
  </ds:schemaRefs>
</ds:datastoreItem>
</file>

<file path=customXml/itemProps3.xml><?xml version="1.0" encoding="utf-8"?>
<ds:datastoreItem xmlns:ds="http://schemas.openxmlformats.org/officeDocument/2006/customXml" ds:itemID="{6DEAF7D1-DA3E-4028-B6FA-B75962C9B741}">
  <ds:schemaRefs>
    <ds:schemaRef ds:uri="73d8d2e5-9b58-4a5c-856a-f65c2b00b9af"/>
    <ds:schemaRef ds:uri="http://purl.org/dc/elements/1.1/"/>
    <ds:schemaRef ds:uri="http://schemas.microsoft.com/office/2006/metadata/properties"/>
    <ds:schemaRef ds:uri="http://www.w3.org/XML/1998/namespace"/>
    <ds:schemaRef ds:uri="http://schemas.microsoft.com/office/2006/documentManagement/types"/>
    <ds:schemaRef ds:uri="http://purl.org/dc/terms/"/>
    <ds:schemaRef ds:uri="http://schemas.microsoft.com/office/infopath/2007/PartnerControls"/>
    <ds:schemaRef ds:uri="http://schemas.openxmlformats.org/package/2006/metadata/core-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6126</TotalTime>
  <Words>1005</Words>
  <Application>Microsoft Office PowerPoint</Application>
  <PresentationFormat>On-screen Show (4:3)</PresentationFormat>
  <Paragraphs>139</Paragraphs>
  <Slides>15</Slides>
  <Notes>13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Arial</vt:lpstr>
      <vt:lpstr>Calibri</vt:lpstr>
      <vt:lpstr>Cambria</vt:lpstr>
      <vt:lpstr>Garamond</vt:lpstr>
      <vt:lpstr>Symbol</vt:lpstr>
      <vt:lpstr>Times New Roman</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WEBDEV</dc:creator>
  <cp:lastModifiedBy>Adeela Azeez</cp:lastModifiedBy>
  <cp:revision>316</cp:revision>
  <cp:lastPrinted>2022-09-05T08:43:44Z</cp:lastPrinted>
  <dcterms:created xsi:type="dcterms:W3CDTF">2020-01-16T09:05:56Z</dcterms:created>
  <dcterms:modified xsi:type="dcterms:W3CDTF">2026-01-29T18:01:24Z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0x010100CAACB7372627F24AA0854C277067D198</vt:lpwstr>
  </property>
</Properties>
</file>